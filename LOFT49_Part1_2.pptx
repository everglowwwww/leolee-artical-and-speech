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照片/配图/loft49/slide_p7_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JINSHAN · 城市金缮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LOFT49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产业遗存更新深度解析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城市规划与建筑双视角的策略分析  |  2025年7月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项目背景与历史沿革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1848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History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工业遗产时代背景、发展历程与项目基本信息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93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929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区位分析与场地解读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3055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Analysis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0" y="1975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宏观/中观/微观区位、场地评估与总平面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414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4414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规划策略深度解析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642616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Strategy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03520" y="24871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拆留决策、空间结构、容量策略与景观体系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953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953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建筑改造策略深度解析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15468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Renovation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0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10号楼/6号楼改造、新建建筑与材料体系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655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465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运营激活与治理经验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666744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&amp; Governance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03520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业态策略、运营激活、治理机制与品牌IP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977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思考与展望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17880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Outlook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03520" y="4023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遗产保护平衡、理念适用性与实践启示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4897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4489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挑战与反思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4690872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Critique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3520" y="45354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入驻率、商业人气、新旧倒挂与基金模式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— PROJECT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项目速览</a:t>
            </a:r>
            <a:endParaRPr lang="en-US" sz="2600" dirty="0"/>
          </a:p>
        </p:txBody>
      </p:sp>
      <p:pic>
        <p:nvPicPr>
          <p:cNvPr id="5" name="Image 0" descr="/Users/peilinli/Desktop/Vibecoding/urban-renewal-report/images/loft49_aer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402336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2976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LOFT49产业遗存更新鸟瞰 © 存在建筑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4937760" y="1234440"/>
            <a:ext cx="3657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1234440"/>
            <a:ext cx="54864" cy="7132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3075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总建筑面积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206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15.79万㎡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0640" y="17373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一期6.2万 + 二期9.59万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37760" y="2057400"/>
            <a:ext cx="3657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2057400"/>
            <a:ext cx="54864" cy="7132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21305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保留工业遗存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2064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约8630㎡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120640" y="25603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6号楼 + 10号楼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937760" y="2880360"/>
            <a:ext cx="3657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2880360"/>
            <a:ext cx="54864" cy="7132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2953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设计单位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206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line+建筑事务所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120640" y="33832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朱培栋博士主持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937760" y="3703320"/>
            <a:ext cx="3657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937760" y="3703320"/>
            <a:ext cx="54864" cy="7132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37764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全面开放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1206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120640" y="42062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二期建成投用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以工业记忆为基底，缝合城市肌理 —— "城市金缮，生机街区"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ilinli/Desktop/Vibecoding/urban-renewal-report/images/loft49_concept_du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项目背景与历史沿革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HISTORY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从杭州化纤厂到LOFT49文创园，再到line+建筑事务所主导的系统性更新——一段跨越六十余年的城市工业记忆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1.1 时代背景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杭州工业遗产的时代背景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运河工业走廊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自20世纪50年代起，拱墅区沿京杭大运河集聚了杭氧、杭锅、杭化纤厂、杭丝联等国有大型工业企业，形成工业走廊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30552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037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产业转型催生更新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048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21世纪后第二产业向第三产业加速转型，大量工厂外迁，闲置厂房成为城市更新最具潜力的空间资源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72384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455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国际理论支撑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467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2003年TICCIH《下塔吉尔宪章》明确工业遗产的价值定义，为LOFT49保护更新提供理论支撑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4014216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14216"/>
            <a:ext cx="54864" cy="80467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873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六大工业集聚区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8853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杭州形成六大工业集聚区，LOFT49所在的拱墅桥-小河轻纺化工区正是运河工业带的核心节点</a:t>
            </a:r>
            <a:endParaRPr lang="en-US" sz="850" dirty="0"/>
          </a:p>
        </p:txBody>
      </p:sp>
      <p:pic>
        <p:nvPicPr>
          <p:cNvPr id="21" name="Image 0" descr="/Users/peilinli/Desktop/Vibecoding/urban-renewal-report/images/pdf_industrial_ma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234440"/>
            <a:ext cx="3840480" cy="3200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754880" y="4480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杭州六大工业集聚区分布总图——拱墅桥-小河轻纺化工区为LOFT49所在区域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1.2 发展历程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LOFT49的诞生与发展历程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62432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2624328" cy="54864"/>
          </a:xfrm>
          <a:prstGeom prst="rect">
            <a:avLst/>
          </a:prstGeom>
          <a:solidFill>
            <a:srgbClr val="8A827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984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1958—2000s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工业时代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杭州化纤厂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1958年创建，浙江省重要化纤生产基地。80年代发展为蓝孔雀锦纶分厂，占地60余亩，钢结构和砖混结构厂房，大跨度钢屋架、锯齿形天窗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2432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624328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984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2003—2019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4813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文创萌芽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7556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自发聚集的艺术家群落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2003年工厂停产，低廉租金吸引艺术家、设计师自发聚集。杭州第一座标志性文创园诞生——"49"源自杭印路49号，"LOFT"借用纽约SoHo区意象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624328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188720"/>
            <a:ext cx="2624328" cy="548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2984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2019至今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4813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系统更新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7556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line+建筑事务所主导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1965960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朱培栋博士提出"城市金缮"理念——不回避工业遗产的历史痕迹，通过精心设计介入，让新与旧的交汇处成为最有价值的部分</a:t>
            </a:r>
            <a:endParaRPr lang="en-US" sz="800" dirty="0"/>
          </a:p>
        </p:txBody>
      </p:sp>
      <p:pic>
        <p:nvPicPr>
          <p:cNvPr id="23" name="Image 0" descr="/Users/peilinli/Desktop/Vibecoding/urban-renewal-report/images/pdf_timeline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063240"/>
            <a:ext cx="8046720" cy="1463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LOFT49发展历程完整时间轴：1983顺应时代而生 → 2002顺应时代而变 → 2003涅槃重生 → 至今稳步发展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1.2 拆留策略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原厂区建筑评估与拆留策略</a:t>
            </a:r>
            <a:endParaRPr lang="en-US" sz="2200" dirty="0"/>
          </a:p>
        </p:txBody>
      </p:sp>
      <p:pic>
        <p:nvPicPr>
          <p:cNvPr id="5" name="Image 0" descr="/Users/peilinli/Desktop/Vibecoding/urban-renewal-report/images/loft49_demoli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45720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原厂区建筑评估与拆留策略分析图：共17栋建筑经评估，仅标注"保留"的建筑被保留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394960" y="1234440"/>
            <a:ext cx="3200400" cy="155448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7784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四维度评估体系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77840" y="1600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历史价值 — 建造年代、历史事件关联度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1856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物质状态 — 结构安全性、保存完整度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77840" y="2112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建筑特征 — 工业时代特征的完备程度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77840" y="2368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空间地位 — 在厂区空间格局中的核心性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94960" y="2971800"/>
            <a:ext cx="3200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2971800"/>
            <a:ext cx="54864" cy="1645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3063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核心保留建筑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33375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10号楼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1987年建，钢排架结构单层大跨度厂房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遗产价值：★★★★★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6号楼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5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1990年建，腈纶纺生产车间，高低跨建筑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遗产价值：★★★★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1.3 基本信息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项目基本信息一览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项目要素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具体内容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项目名称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杭州LOFT49产业遗存更新（二期）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杭州市拱墅区吉如路88号（原杭印路49号）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杭州化纤厂 / 蓝孔雀锦纶分厂（1958年建厂）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设计单位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line+建筑事务所（朱培栋博士主持）/ 中外建华诚 / ANTAO安道设计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用地面积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约60余亩（含一期、二期）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总建筑面积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约15.79万㎡（一期6.2万 + 二期9.59万，保留遗存约8630㎡）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核心保留建筑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6号楼（1990年腈纶袜车间）、10号楼（1987年钢排架主厂房）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设计理念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"城市金缮，生机街区"——以工业记忆为基底，缝合城市肌理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业态定位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产、商、展、集、秀五大功能矩阵（智慧经济+创意设计+数字创意）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5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建设周期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0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一期2021年建成；二期2022.12-2025年建设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数据来源：项目招商手册 / 展板信息</a:t>
            </a:r>
            <a:endParaRPr lang="en-US" sz="700" dirty="0"/>
          </a:p>
        </p:txBody>
      </p:sp>
      <p:pic>
        <p:nvPicPr>
          <p:cNvPr id="7" name="Image 0" descr="/Users/peilinli/Desktop/Vibecoding/urban-renewal-report/images/scan_inner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1097280"/>
            <a:ext cx="3017520" cy="320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784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LOFT49二期招商手册内封页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"灵感复兴，创意先行"——致敬时代创变者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1.4 关键节点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LOFT49关键时间节点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274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1101852" y="1435608"/>
            <a:ext cx="164592" cy="164592"/>
          </a:xfrm>
          <a:prstGeom prst="ellipse">
            <a:avLst/>
          </a:prstGeom>
          <a:solidFill>
            <a:srgbClr val="8A8278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438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制造时代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5438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杭州化纤厂创建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061972" y="1435608"/>
            <a:ext cx="164592" cy="164592"/>
          </a:xfrm>
          <a:prstGeom prst="ellipse">
            <a:avLst/>
          </a:prstGeom>
          <a:solidFill>
            <a:srgbClr val="8A8278"/>
          </a:solidFill>
          <a:ln/>
        </p:spPr>
      </p:sp>
      <p:sp>
        <p:nvSpPr>
          <p:cNvPr id="10" name="Text 8"/>
          <p:cNvSpPr/>
          <p:nvPr/>
        </p:nvSpPr>
        <p:spPr>
          <a:xfrm>
            <a:off x="176022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450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制造时代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1450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发展为蓝孔雀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锦纶分厂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022092" y="143560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272034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462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创造时代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7462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艺术家自发入驻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LOFT49诞生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982212" y="143560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368046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3474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政策升级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3474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习近平总书记调研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保留工业遗存指示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942332" y="1435608"/>
            <a:ext cx="164592" cy="164592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4058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486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政策升级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9486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纳入运河工业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设计小镇规划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902452" y="1435608"/>
            <a:ext cx="164592" cy="164592"/>
          </a:xfrm>
          <a:prstGeom prst="ellipse">
            <a:avLst/>
          </a:prstGeom>
          <a:solidFill>
            <a:srgbClr val="C8A96E"/>
          </a:solidFill>
          <a:ln/>
        </p:spPr>
      </p:sp>
      <p:sp>
        <p:nvSpPr>
          <p:cNvPr id="26" name="Text 24"/>
          <p:cNvSpPr/>
          <p:nvPr/>
        </p:nvSpPr>
        <p:spPr>
          <a:xfrm>
            <a:off x="560070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5498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系统更新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55498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LOFT49关停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line+赢得设计权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862572" y="1435608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6082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1510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一期落成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1510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一期建成投用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6.2万㎡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822692" y="1435608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520940" y="1051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7522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共造时代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475220" y="19385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二期全面开放</a:t>
            </a:r>
            <a:endParaRPr lang="en-US" sz="6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城市金缮首作</a:t>
            </a:r>
            <a:endParaRPr lang="en-US" sz="650" dirty="0"/>
          </a:p>
        </p:txBody>
      </p:sp>
      <p:pic>
        <p:nvPicPr>
          <p:cNvPr id="37" name="Image 0" descr="/Users/peilinli/Desktop/Vibecoding/urban-renewal-report/images/loft49_concept_du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2651760"/>
            <a:ext cx="6400800" cy="19202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48640" y="46634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蓝孔雀化纤厂历史（1983-2002）与LOFT49创意园区（2003-2019）发展对比拼贴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LOFT49产业遗存更新深度解析</dc:title>
  <dc:subject>城市规划与建筑双视角的策略分析</dc:subject>
  <dc:creator>Urban Renewal Analysis</dc:creator>
  <cp:lastModifiedBy>Urban Renewal Analysis</cp:lastModifiedBy>
  <cp:revision>1</cp:revision>
  <dcterms:created xsi:type="dcterms:W3CDTF">2026-07-07T06:52:50Z</dcterms:created>
  <dcterms:modified xsi:type="dcterms:W3CDTF">2026-07-07T06:52:50Z</dcterms:modified>
</cp:coreProperties>
</file>