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eilinli/Desktop/Vibecoding/urban-renewal-report/照片/配图/和平片区/industrial_in_cit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06240" y="0"/>
            <a:ext cx="49377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120640" cy="5143500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4" name="Shape 1"/>
          <p:cNvSpPr/>
          <p:nvPr/>
        </p:nvSpPr>
        <p:spPr>
          <a:xfrm>
            <a:off x="4206240" y="0"/>
            <a:ext cx="1280160" cy="5143500"/>
          </a:xfrm>
          <a:prstGeom prst="rect">
            <a:avLst/>
          </a:prstGeom>
          <a:solidFill>
            <a:srgbClr val="1A1512">
              <a:alpha val="65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371600"/>
            <a:ext cx="640080" cy="45720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481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HEPING DISTRICT · URBAN RENEWAL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" y="17830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从新项目到老城新中心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502920" y="3200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双轨 TOD · 会展遗存一体化 · 重工工业 IP · 整体规划方案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基于城市规划与建筑设计双重视角   |   原杭氧重工遗存约 10.3 万㎡   |   2025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0080"/>
            <a:ext cx="640080" cy="45720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7498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0" y="8229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25780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区域坐标与关系网络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257800" y="11887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Network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257800" y="1481328"/>
            <a:ext cx="3657600" cy="0"/>
          </a:xfrm>
          <a:prstGeom prst="line">
            <a:avLst/>
          </a:prstGeom>
          <a:noFill/>
          <a:ln w="12700">
            <a:solidFill>
              <a:srgbClr val="2A24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5087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257800" y="15544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现存问题诊断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257800" y="18745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Diagnosis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257800" y="2167128"/>
            <a:ext cx="3657600" cy="0"/>
          </a:xfrm>
          <a:prstGeom prst="line">
            <a:avLst/>
          </a:prstGeom>
          <a:noFill/>
          <a:ln w="12700">
            <a:solidFill>
              <a:srgbClr val="2A24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21945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257800" y="22402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总体战略：做老城新中心，不做新项目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257800" y="25603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Strategy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800" y="2852928"/>
            <a:ext cx="3657600" cy="0"/>
          </a:xfrm>
          <a:prstGeom prst="line">
            <a:avLst/>
          </a:prstGeom>
          <a:noFill/>
          <a:ln w="12700">
            <a:solidFill>
              <a:srgbClr val="2A24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28803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257800" y="29260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空间策略：双轨 TOD 织补与遗存分层释放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57800" y="32461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Strategy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57800" y="3538728"/>
            <a:ext cx="3657600" cy="0"/>
          </a:xfrm>
          <a:prstGeom prst="line">
            <a:avLst/>
          </a:prstGeom>
          <a:noFill/>
          <a:ln w="12700">
            <a:solidFill>
              <a:srgbClr val="2A24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35661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257800" y="36118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运营策略：重工 IP、会展联动与运营前置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57800" y="39319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 Strategy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257800" y="4224528"/>
            <a:ext cx="3657600" cy="0"/>
          </a:xfrm>
          <a:prstGeom prst="line">
            <a:avLst/>
          </a:prstGeom>
          <a:noFill/>
          <a:ln w="12700">
            <a:solidFill>
              <a:srgbClr val="2A24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0" y="42519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257800" y="4297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实施要点与展望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257800" y="46177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eilinli/Desktop/Vibecoding/urban-renewal-report/照片/配图/和平片区/industrial_in_cit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4" name="Shape 1"/>
          <p:cNvSpPr/>
          <p:nvPr/>
        </p:nvSpPr>
        <p:spPr>
          <a:xfrm>
            <a:off x="4937760" y="0"/>
            <a:ext cx="731520" cy="5143500"/>
          </a:xfrm>
          <a:prstGeom prst="rect">
            <a:avLst/>
          </a:prstGeom>
          <a:solidFill>
            <a:srgbClr val="1A1512">
              <a:alpha val="6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96012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2A24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30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640080" cy="45720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23957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NETWORK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区域坐标与关系网络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02920" y="34290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跳出片区看片区：先在宏观—中观—微观三个尺度上厘清坐标，再在人口、产业、交通、文化、商业五个维度上梳理关系网络。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区域坐标与关系网络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NETWORK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区域坐标：宏观—中观—微观三尺度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01 / 06</a:t>
            </a:r>
            <a:endParaRPr lang="en-US" sz="800" dirty="0"/>
          </a:p>
        </p:txBody>
      </p:sp>
      <p:pic>
        <p:nvPicPr>
          <p:cNvPr id="9" name="Image 0" descr="/Users/peilinli/Desktop/Vibecoding/urban-renewal-report/照片/配图/和平片区/和平片区 区位图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00200"/>
            <a:ext cx="2743200" cy="28346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600200"/>
            <a:ext cx="2743200" cy="2834640"/>
          </a:xfrm>
          <a:prstGeom prst="rect">
            <a:avLst/>
          </a:prstGeom>
          <a:noFill/>
          <a:ln w="9525">
            <a:solidFill>
              <a:srgbClr val="1A151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44714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· 和平片区区位：大和平城市中心所在，5 号线杭氧站、在建 15 号线和平会展中心环伺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566160" y="1600200"/>
            <a:ext cx="50749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66160" y="1600200"/>
            <a:ext cx="73152" cy="9144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4" name="Shape 11"/>
          <p:cNvSpPr/>
          <p:nvPr/>
        </p:nvSpPr>
        <p:spPr>
          <a:xfrm>
            <a:off x="3767328" y="1773936"/>
            <a:ext cx="566928" cy="566928"/>
          </a:xfrm>
          <a:prstGeom prst="ellipse">
            <a:avLst/>
          </a:prstGeom>
          <a:solidFill>
            <a:srgbClr val="1A1512"/>
          </a:solidFill>
          <a:ln/>
        </p:spPr>
      </p:sp>
      <p:sp>
        <p:nvSpPr>
          <p:cNvPr id="15" name="Text 12"/>
          <p:cNvSpPr/>
          <p:nvPr/>
        </p:nvSpPr>
        <p:spPr>
          <a:xfrm>
            <a:off x="376732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480560" y="171907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 · 拱墅区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480560" y="2002536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位于东新路“产城融合轴”关键节点，处武林湖滨（南 2.5km）与拱宸桥运河文化中心（北 4km）之间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566160" y="2642616"/>
            <a:ext cx="50749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566160" y="2642616"/>
            <a:ext cx="73152" cy="9144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0" name="Shape 17"/>
          <p:cNvSpPr/>
          <p:nvPr/>
        </p:nvSpPr>
        <p:spPr>
          <a:xfrm>
            <a:off x="3767328" y="2816352"/>
            <a:ext cx="566928" cy="566928"/>
          </a:xfrm>
          <a:prstGeom prst="ellipse">
            <a:avLst/>
          </a:prstGeom>
          <a:solidFill>
            <a:srgbClr val="1A1512"/>
          </a:solidFill>
          <a:ln/>
        </p:spPr>
      </p:sp>
      <p:sp>
        <p:nvSpPr>
          <p:cNvPr id="21" name="Text 18"/>
          <p:cNvSpPr/>
          <p:nvPr/>
        </p:nvSpPr>
        <p:spPr>
          <a:xfrm>
            <a:off x="3767328" y="2816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4480560" y="276148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中观 · 大和平城市中心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4480560" y="304495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上塘河沿线、大运河核心监控区内的城市新型功能培育区，规划约 72.7 公顷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566160" y="3685032"/>
            <a:ext cx="50749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3566160" y="3685032"/>
            <a:ext cx="73152" cy="9144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6" name="Shape 23"/>
          <p:cNvSpPr/>
          <p:nvPr/>
        </p:nvSpPr>
        <p:spPr>
          <a:xfrm>
            <a:off x="3767328" y="3858768"/>
            <a:ext cx="566928" cy="566928"/>
          </a:xfrm>
          <a:prstGeom prst="ellipse">
            <a:avLst/>
          </a:prstGeom>
          <a:solidFill>
            <a:srgbClr val="1A1512"/>
          </a:solidFill>
          <a:ln/>
        </p:spPr>
      </p:sp>
      <p:sp>
        <p:nvSpPr>
          <p:cNvPr id="27" name="Text 24"/>
          <p:cNvSpPr/>
          <p:nvPr/>
        </p:nvSpPr>
        <p:spPr>
          <a:xfrm>
            <a:off x="3767328" y="3858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4480560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微观 · 杭氧重工遗存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480560" y="408736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杭州规模最大重工遗存集群，占地约 10.3 万㎡；毗邻在建 15 号线和平会展中心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区域坐标与关系网络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NETWORK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关系网络：五个维度的周边关联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01 / 06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566928" cy="512064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60020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69848" y="1600200"/>
            <a:ext cx="354787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16152" y="160020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两高一低人口结构，年轻白领消费外溢，亟需品质商业与公共文化设施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203704"/>
            <a:ext cx="566928" cy="512064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03704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69848" y="2203704"/>
            <a:ext cx="354787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16152" y="22037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东新路“承北启南”中段核心，衔接科创与商务，人才政策加持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07208"/>
            <a:ext cx="566928" cy="512064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807208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交通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69848" y="2807208"/>
            <a:ext cx="354787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16152" y="280720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号线杭氧站、在建 15 号线和平会展中心，具双轨 TOD 潜力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410712"/>
            <a:ext cx="566928" cy="512064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3410712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文化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69848" y="3410712"/>
            <a:ext cx="354787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16152" y="341071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运河工业带同源遗存节点，距 LOFT49 约 5km、杭钢公园约 7km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14216"/>
            <a:ext cx="566928" cy="512064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4014216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69848" y="4014216"/>
            <a:ext cx="354787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16152" y="401421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武林商圈之外的功能增量，需补足老城东部高品质商务与公共活动</a:t>
            </a:r>
            <a:endParaRPr lang="en-US" sz="1000" dirty="0"/>
          </a:p>
        </p:txBody>
      </p:sp>
      <p:pic>
        <p:nvPicPr>
          <p:cNvPr id="29" name="Image 0" descr="/Users/peilinli/Desktop/Vibecoding/urban-renewal-report/照片/配图/和平片区/industrial_in_cit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1600200"/>
            <a:ext cx="3703320" cy="269748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4937760" y="1600200"/>
            <a:ext cx="3703320" cy="2697480"/>
          </a:xfrm>
          <a:prstGeom prst="rect">
            <a:avLst/>
          </a:prstGeom>
          <a:noFill/>
          <a:ln w="9525">
            <a:solidFill>
              <a:srgbClr val="1A151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37760" y="4334256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· 工业遗存嵌于城市肌理：连片老厂房被现代住区环抱，构成东新路更新走廊的独特景观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区域坐标与关系网络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NETWORK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轨道支撑：双轨 TOD 的资源先机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01 / 06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片区被多条轨道线环绕，其中 5 号线杭氧站已运营、15 号线和平会展中心站在建——双轨叠加会展与连片遗存，构成把周边人流“引进来、再分配”的核心基础设施契机。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240280"/>
            <a:ext cx="8138160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2240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线路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801368" y="224028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站点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36008" y="2240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距离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824728" y="2240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TOD 角色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013448" y="22402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辐射社区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2624328"/>
            <a:ext cx="8138160" cy="502920"/>
          </a:xfrm>
          <a:prstGeom prst="rect">
            <a:avLst/>
          </a:prstGeom>
          <a:solidFill>
            <a:srgbClr val="F8F6F2"/>
          </a:solidFill>
          <a:ln w="6350">
            <a:solidFill>
              <a:srgbClr val="E4DE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" y="262432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号线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01368" y="2624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杭氧站（已运营）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36008" y="262432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700–800m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24728" y="262432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步行痛点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013448" y="262432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打铁关 · 京都苑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127248"/>
            <a:ext cx="8138160" cy="502920"/>
          </a:xfrm>
          <a:prstGeom prst="rect">
            <a:avLst/>
          </a:prstGeom>
          <a:solidFill>
            <a:srgbClr val="F3E4D8"/>
          </a:solidFill>
          <a:ln w="6350">
            <a:solidFill>
              <a:srgbClr val="E4DE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3127248"/>
            <a:ext cx="73152" cy="50292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4" name="Text 22"/>
          <p:cNvSpPr/>
          <p:nvPr/>
        </p:nvSpPr>
        <p:spPr>
          <a:xfrm>
            <a:off x="612648" y="312724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3A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号线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801368" y="31272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和平会展中心站（在建）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36008" y="312724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紧邻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24728" y="312724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门户抓手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3448" y="31272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和平苑 · 现代城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3630168"/>
            <a:ext cx="8138160" cy="502920"/>
          </a:xfrm>
          <a:prstGeom prst="rect">
            <a:avLst/>
          </a:prstGeom>
          <a:solidFill>
            <a:srgbClr val="F8F6F2"/>
          </a:solidFill>
          <a:ln w="6350">
            <a:solidFill>
              <a:srgbClr val="E4DE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" y="363016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号线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01368" y="36301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打铁关站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36008" y="363016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500m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824728" y="363016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补充接驳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013448" y="363016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打铁关 · 和平苑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02920" y="4133088"/>
            <a:ext cx="8138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4DE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" y="413308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规划线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801368" y="413308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预留新增站点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636008" y="413308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待定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824728" y="413308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远期增量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013448" y="41330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片区外围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02920" y="4745736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8B3A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5 号线杭氧站步行 700–800m 是现状痛点，15 号线和平会展中心站紧邻——双轨 TOD 织补是空间策略的起点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eilinli/Desktop/Vibecoding/urban-renewal-report/照片/配图/和平片区/heping_factory_origin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4" name="Shape 1"/>
          <p:cNvSpPr/>
          <p:nvPr/>
        </p:nvSpPr>
        <p:spPr>
          <a:xfrm>
            <a:off x="4937760" y="0"/>
            <a:ext cx="731520" cy="5143500"/>
          </a:xfrm>
          <a:prstGeom prst="rect">
            <a:avLst/>
          </a:prstGeom>
          <a:solidFill>
            <a:srgbClr val="1A1512">
              <a:alpha val="6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96012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2A24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30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640080" cy="45720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23957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DIAGNOSIS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现存问题诊断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02920" y="34290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直面片区当下的结构性困境：从交通割裂、会展与遗存资源脱节、连片厂房空间浪费，到同质化改造风险，系统研判它的处境。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现存问题诊断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DIAGNOSIS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四重结构性困境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02 / 06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737360"/>
            <a:ext cx="195224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737360"/>
            <a:ext cx="1952244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901952"/>
            <a:ext cx="1952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C0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2395728"/>
            <a:ext cx="19522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交通割裂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761488"/>
            <a:ext cx="1769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3A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三站难互通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3063240"/>
            <a:ext cx="1312164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3108960"/>
            <a:ext cx="16962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厂区、会展、地铁被城市道路分割，展会高峰人车混行、大件运输通道缺失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4892" y="1737360"/>
            <a:ext cx="195224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4892" y="1737360"/>
            <a:ext cx="1952244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8" name="Text 16"/>
          <p:cNvSpPr/>
          <p:nvPr/>
        </p:nvSpPr>
        <p:spPr>
          <a:xfrm>
            <a:off x="2564892" y="1901952"/>
            <a:ext cx="1952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C0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2564892" y="2395728"/>
            <a:ext cx="19522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配套缺失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656332" y="2761488"/>
            <a:ext cx="1769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3A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会展孤掌难鸣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884932" y="3063240"/>
            <a:ext cx="1312164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92908" y="3108960"/>
            <a:ext cx="16962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缺乏住宿、洽谈、餐饮全链条配套，短期展会客流难转化为长期消费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26864" y="1737360"/>
            <a:ext cx="195224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26864" y="1737360"/>
            <a:ext cx="1952244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5" name="Text 23"/>
          <p:cNvSpPr/>
          <p:nvPr/>
        </p:nvSpPr>
        <p:spPr>
          <a:xfrm>
            <a:off x="4626864" y="1901952"/>
            <a:ext cx="1952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C0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4626864" y="2395728"/>
            <a:ext cx="19522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空间浪费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718304" y="2761488"/>
            <a:ext cx="1769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3A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超大厂房闲置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46904" y="3063240"/>
            <a:ext cx="1312164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0" y="3108960"/>
            <a:ext cx="16962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万㎡ 连片遗存若单一功能利用，超高大跨空间价值难以释放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688836" y="1737360"/>
            <a:ext cx="195224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688836" y="1737360"/>
            <a:ext cx="1952244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2" name="Text 30"/>
          <p:cNvSpPr/>
          <p:nvPr/>
        </p:nvSpPr>
        <p:spPr>
          <a:xfrm>
            <a:off x="6688836" y="1901952"/>
            <a:ext cx="1952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C0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6688836" y="2395728"/>
            <a:ext cx="19522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同质风险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780276" y="2761488"/>
            <a:ext cx="1769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3A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落入文创俗套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008876" y="3063240"/>
            <a:ext cx="1312164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16852" y="3108960"/>
            <a:ext cx="16962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5km 有 LOFT49、7km 有杭钢公园，简单“修缮+文创”易陷同质化竞争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02920" y="4114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8B3A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四重困境叠加，指向同一命题——如何最大化资源优势、并建立不可复制的差异化竞争力。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现存问题诊断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DIAGNOSIS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两大核心命题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02 / 06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9319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783080"/>
            <a:ext cx="3931920" cy="530352"/>
          </a:xfrm>
          <a:prstGeom prst="rect">
            <a:avLst/>
          </a:prstGeom>
          <a:solidFill>
            <a:srgbClr val="4A8FC4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" y="178308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命题一 · 资源叠加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8952" y="2514600"/>
            <a:ext cx="3419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坐拥大体量工业遗存、5 号线杭氧站、在建 15 号线和平会展中心——如何最大化交通、会展、遗存三大资源的叠加优势？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09160" y="1783080"/>
            <a:ext cx="39319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1783080"/>
            <a:ext cx="3931920" cy="530352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5" name="Text 13"/>
          <p:cNvSpPr/>
          <p:nvPr/>
        </p:nvSpPr>
        <p:spPr>
          <a:xfrm>
            <a:off x="4928616" y="178308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命题二 · 差异突围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65192" y="2514600"/>
            <a:ext cx="3419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5km 有 LOFT49、7km 有杭钢公园——如何跳出“厂房修缮 + 文创办公”同质套路，建立独有差异化竞争力？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4114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两套方案分别回应：方案一（双轨 TOD + 会展遗存一体化）解命题一，方案二（重工 IP + 全业态错位）解命题二。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eilinli/Desktop/Vibecoding/urban-renewal-report/照片/配图/和平片区/tod_metro_gateway_pa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4" name="Shape 1"/>
          <p:cNvSpPr/>
          <p:nvPr/>
        </p:nvSpPr>
        <p:spPr>
          <a:xfrm>
            <a:off x="4937760" y="0"/>
            <a:ext cx="731520" cy="5143500"/>
          </a:xfrm>
          <a:prstGeom prst="rect">
            <a:avLst/>
          </a:prstGeom>
          <a:solidFill>
            <a:srgbClr val="1A1512">
              <a:alpha val="6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96012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2A24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30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640080" cy="45720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23957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STRATEGY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总体战略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02920" y="34290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确立总体战略：以 LOFT49 经验为参照，和平片区不做新项目、新园区或新地标，而做能持续运营、持续聚人、持续更新的老城新中心。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eilinli/Desktop/Vibecoding/urban-renewal-report/照片/配图/和平片区/tod_metro_gateway_pa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394960" cy="5143500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4" name="Shape 1"/>
          <p:cNvSpPr/>
          <p:nvPr/>
        </p:nvSpPr>
        <p:spPr>
          <a:xfrm>
            <a:off x="5120640" y="0"/>
            <a:ext cx="731520" cy="5143500"/>
          </a:xfrm>
          <a:prstGeom prst="rect">
            <a:avLst/>
          </a:prstGeom>
          <a:solidFill>
            <a:srgbClr val="1A1512">
              <a:alpha val="6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50292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OVERALL STRATEGY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核心判断：做“新中心”，不做“新项目”</a:t>
            </a:r>
            <a:endParaRPr lang="en-US" sz="1850" dirty="0"/>
          </a:p>
        </p:txBody>
      </p:sp>
      <p:sp>
        <p:nvSpPr>
          <p:cNvPr id="7" name="Shape 4"/>
          <p:cNvSpPr/>
          <p:nvPr/>
        </p:nvSpPr>
        <p:spPr>
          <a:xfrm>
            <a:off x="502920" y="1463040"/>
            <a:ext cx="4434840" cy="1417320"/>
          </a:xfrm>
          <a:prstGeom prst="rect">
            <a:avLst/>
          </a:prstGeom>
          <a:solidFill>
            <a:srgbClr val="2A2420"/>
          </a:solidFill>
          <a:ln w="12700">
            <a:solidFill>
              <a:srgbClr val="B8504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" y="1463040"/>
            <a:ext cx="73152" cy="141732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9" name="Text 6"/>
          <p:cNvSpPr/>
          <p:nvPr/>
        </p:nvSpPr>
        <p:spPr>
          <a:xfrm>
            <a:off x="722376" y="1572768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和平片区要做的，不是一个新商场、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新园区或新地标，而是一个能够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持续运营、持续聚人、持续更新的老城新中心。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3063240"/>
            <a:ext cx="4434840" cy="621792"/>
          </a:xfrm>
          <a:prstGeom prst="rect">
            <a:avLst/>
          </a:prstGeom>
          <a:solidFill>
            <a:srgbClr val="1F1A16"/>
          </a:solidFill>
          <a:ln w="9525">
            <a:solidFill>
              <a:srgbClr val="2A242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" y="306324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069848" y="31363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从空间更新到运营更新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69848" y="337413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更新效果由定位、运营、产业、开放与空间综合决定，本质是从“空间更新”走向“运营更新”</a:t>
            </a:r>
            <a:endParaRPr lang="en-US" sz="860" dirty="0"/>
          </a:p>
        </p:txBody>
      </p:sp>
      <p:sp>
        <p:nvSpPr>
          <p:cNvPr id="14" name="Shape 11"/>
          <p:cNvSpPr/>
          <p:nvPr/>
        </p:nvSpPr>
        <p:spPr>
          <a:xfrm>
            <a:off x="502920" y="3776472"/>
            <a:ext cx="4434840" cy="621792"/>
          </a:xfrm>
          <a:prstGeom prst="rect">
            <a:avLst/>
          </a:prstGeom>
          <a:solidFill>
            <a:srgbClr val="1F1A16"/>
          </a:solidFill>
          <a:ln w="9525">
            <a:solidFill>
              <a:srgbClr val="2A242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6072" y="3776472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069848" y="38496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从地块开发到功能重组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69848" y="408736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72.7 公顷任务是把存量更新转化为老城中心功能的再组织，而非单纯新增商业面积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总体战略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STRATEGY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顶层定位：轨道枢纽型工业博览会展综合体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03 / 06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以商业商务为基础、以文创展览与数智展示为特色、以公共活动与城市消费为支撑，构建“地铁人流集散—专业展会—重工遗存特色配套”三位一体流量闭环。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194560"/>
            <a:ext cx="26029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2194560"/>
            <a:ext cx="2602992" cy="457200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194560"/>
            <a:ext cx="2237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商业商务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2761488"/>
            <a:ext cx="2237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8F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基本盘，非同质购物中心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236976"/>
            <a:ext cx="2237232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310128"/>
            <a:ext cx="2237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要有展示性、体验性、公共性——首展首秀、品牌发布、设计消费、城市会客、科技体验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70504" y="2194560"/>
            <a:ext cx="26029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70504" y="2194560"/>
            <a:ext cx="2602992" cy="457200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18" name="Text 16"/>
          <p:cNvSpPr/>
          <p:nvPr/>
        </p:nvSpPr>
        <p:spPr>
          <a:xfrm>
            <a:off x="3453384" y="2194560"/>
            <a:ext cx="2237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文创展览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53384" y="2761488"/>
            <a:ext cx="2237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会展基因，非传统展馆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453384" y="3236976"/>
            <a:ext cx="2237232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53384" y="3310128"/>
            <a:ext cx="2237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把原和平会展记忆转化为更高频、更开放、更日常的城市活动体系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8088" y="2194560"/>
            <a:ext cx="26029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8088" y="2194560"/>
            <a:ext cx="2602992" cy="457200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24" name="Text 22"/>
          <p:cNvSpPr/>
          <p:nvPr/>
        </p:nvSpPr>
        <p:spPr>
          <a:xfrm>
            <a:off x="6220968" y="2194560"/>
            <a:ext cx="2237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数智科创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20968" y="2761488"/>
            <a:ext cx="2237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A3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可展可体验，非办公口号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20968" y="3236976"/>
            <a:ext cx="2237232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20968" y="3310128"/>
            <a:ext cx="2237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引入可展示、可体验、可交易的数字创意、智慧会展、AI 应用场景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2920" y="427939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B3A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整合轨道交通、会展流量、连片工业遗存三大资源，形成资源叠加乘数效应。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总体战略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STRATEGY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区域差异化：三级工业遗产梯度错位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03 / 06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周边三处工业遗产形成梯度互补格局，从根源规避同质化竞争，客源分层、线路联动、业态不冲突。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103120"/>
            <a:ext cx="2602992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2103120"/>
            <a:ext cx="2602992" cy="54864"/>
          </a:xfrm>
          <a:prstGeom prst="rect">
            <a:avLst/>
          </a:prstGeom>
          <a:solidFill>
            <a:srgbClr val="8A8278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" y="2249424"/>
            <a:ext cx="2273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LOFT49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7512" y="2560320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5km · 原蓝孔雀化纤厂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2816352"/>
            <a:ext cx="2273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轻工业轻文创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7512" y="3291840"/>
            <a:ext cx="2273808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383280"/>
            <a:ext cx="225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平面设计 · 潮玩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小型设计师工作室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文艺小众创意办公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70504" y="2103120"/>
            <a:ext cx="2602992" cy="2286000"/>
          </a:xfrm>
          <a:prstGeom prst="rect">
            <a:avLst/>
          </a:prstGeom>
          <a:solidFill>
            <a:srgbClr val="F3E4D8"/>
          </a:solidFill>
          <a:ln w="15875">
            <a:solidFill>
              <a:srgbClr val="B8504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70504" y="2103120"/>
            <a:ext cx="2602992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9" name="Text 17"/>
          <p:cNvSpPr/>
          <p:nvPr/>
        </p:nvSpPr>
        <p:spPr>
          <a:xfrm>
            <a:off x="3435096" y="2249424"/>
            <a:ext cx="2273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3A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 · 杭氧片区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435096" y="2560320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本案 · 亚洲制氧重工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435096" y="2816352"/>
            <a:ext cx="2273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重工博览 + 会展科创枢纽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435096" y="3291840"/>
            <a:ext cx="2273808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53384" y="3383280"/>
            <a:ext cx="225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独家重工工业 IP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大型专业会展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智能制造科创 · 工业科普研学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38088" y="2103120"/>
            <a:ext cx="2602992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8088" y="2103120"/>
            <a:ext cx="2602992" cy="54864"/>
          </a:xfrm>
          <a:prstGeom prst="rect">
            <a:avLst/>
          </a:prstGeom>
          <a:solidFill>
            <a:srgbClr val="7BA38E"/>
          </a:solidFill>
          <a:ln/>
        </p:spPr>
      </p:sp>
      <p:sp>
        <p:nvSpPr>
          <p:cNvPr id="26" name="Text 24"/>
          <p:cNvSpPr/>
          <p:nvPr/>
        </p:nvSpPr>
        <p:spPr>
          <a:xfrm>
            <a:off x="6202680" y="2249424"/>
            <a:ext cx="2273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杭钢公园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202680" y="2560320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7km · 杭钢遗存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202680" y="2816352"/>
            <a:ext cx="2273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7BA3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钢铁生态休闲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02680" y="3291840"/>
            <a:ext cx="2273808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20968" y="3383280"/>
            <a:ext cx="225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高炉生态修复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户外露营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工业郊野运动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" y="44988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三者功能互补、客源分层、线路联动——杭氧独占“重工博览 + 会展科创”生态位，不可复制。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总体战略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STRATEGY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区域带动：以自身更新带动老城东部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03 / 06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区域带动不写成“与某项目联动”，而是以和平片区为核心，重构老城东部公共中心功能，带动周边存量空间、商业业态、公共活动与城市界面的整体更新。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194560"/>
            <a:ext cx="2602992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5800" y="2395728"/>
            <a:ext cx="512064" cy="512064"/>
          </a:xfrm>
          <a:prstGeom prst="ellipse">
            <a:avLst/>
          </a:prstGeom>
          <a:solidFill>
            <a:srgbClr val="1A151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395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85800" y="2999232"/>
            <a:ext cx="2237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带动商业能级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85800" y="3328416"/>
            <a:ext cx="2237232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01568"/>
            <a:ext cx="2237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补足老城东部高品质商业商务功能，成为武林商圈之外的新功能增量，而非复制传统商圈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3270504" y="2194560"/>
            <a:ext cx="2602992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53384" y="2395728"/>
            <a:ext cx="512064" cy="512064"/>
          </a:xfrm>
          <a:prstGeom prst="ellipse">
            <a:avLst/>
          </a:prstGeom>
          <a:solidFill>
            <a:srgbClr val="1A1512"/>
          </a:solidFill>
          <a:ln/>
        </p:spPr>
      </p:sp>
      <p:sp>
        <p:nvSpPr>
          <p:cNvPr id="18" name="Text 16"/>
          <p:cNvSpPr/>
          <p:nvPr/>
        </p:nvSpPr>
        <p:spPr>
          <a:xfrm>
            <a:off x="3453384" y="2395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453384" y="2999232"/>
            <a:ext cx="2237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带动公共活动复兴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453384" y="3328416"/>
            <a:ext cx="2237232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53384" y="3401568"/>
            <a:ext cx="2237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重拾会展与大型公共活动记忆，重新成为市民可参与、企业可展示、品牌可发布的城市场所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6038088" y="2194560"/>
            <a:ext cx="2602992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20968" y="2395728"/>
            <a:ext cx="512064" cy="512064"/>
          </a:xfrm>
          <a:prstGeom prst="ellipse">
            <a:avLst/>
          </a:prstGeom>
          <a:solidFill>
            <a:srgbClr val="1A1512"/>
          </a:solidFill>
          <a:ln/>
        </p:spPr>
      </p:sp>
      <p:sp>
        <p:nvSpPr>
          <p:cNvPr id="24" name="Text 22"/>
          <p:cNvSpPr/>
          <p:nvPr/>
        </p:nvSpPr>
        <p:spPr>
          <a:xfrm>
            <a:off x="6220968" y="2395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220968" y="2999232"/>
            <a:ext cx="2237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带动存量价值重估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20968" y="3328416"/>
            <a:ext cx="2237232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20968" y="3401568"/>
            <a:ext cx="2237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推动周边老旧厂房、老旧社区、低效商业与交通边角空间，从低效使用转向复合利用</a:t>
            </a:r>
            <a:endParaRPr lang="en-US" sz="9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eilinli/Desktop/Vibecoding/urban-renewal-report/照片/配图/和平片区/tod_warehouse_atri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4" name="Shape 1"/>
          <p:cNvSpPr/>
          <p:nvPr/>
        </p:nvSpPr>
        <p:spPr>
          <a:xfrm>
            <a:off x="4937760" y="0"/>
            <a:ext cx="731520" cy="5143500"/>
          </a:xfrm>
          <a:prstGeom prst="rect">
            <a:avLst/>
          </a:prstGeom>
          <a:solidFill>
            <a:srgbClr val="1A1512">
              <a:alpha val="6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96012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2A24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30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640080" cy="45720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23957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STRATEGY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02920" y="34290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空间策略以双轨 TOD 织补为骨架、以遗存分层释放为血肉：从“地块开发”转向“片区织补”，用连续的公共空间系统组织开发强度。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STRATEGY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空间总纲：从“地块开发”到“片区织补”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04 / 06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单体建筑改造不能自动带来片区活力。片区规模更大、功能更复杂，更应避免各地块各自建设、各自招商、各自管理——重点把控三类空间关系。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148840"/>
            <a:ext cx="26029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2148840"/>
            <a:ext cx="2602992" cy="5486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" y="2331720"/>
            <a:ext cx="2273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重构开放街区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67512" y="2807208"/>
            <a:ext cx="2273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3A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小街区 · 密路网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" y="3118104"/>
            <a:ext cx="2273808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3191256"/>
            <a:ext cx="2273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以小街区、密路网、连续底层界面与开放公共空间，提升步行可达性与街区渗透性，不做封闭盒子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70504" y="2148840"/>
            <a:ext cx="26029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70504" y="2148840"/>
            <a:ext cx="2602992" cy="5486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18" name="Text 16"/>
          <p:cNvSpPr/>
          <p:nvPr/>
        </p:nvSpPr>
        <p:spPr>
          <a:xfrm>
            <a:off x="3435096" y="2331720"/>
            <a:ext cx="2273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站点—街区—公共空间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435096" y="2807208"/>
            <a:ext cx="2273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3A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轨道即活力入口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35096" y="3118104"/>
            <a:ext cx="2273808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35096" y="3191256"/>
            <a:ext cx="2273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把轨道站点作为片区活力入口而非交通附属，站点周边优先布置开放、高频、可停留可消费的功能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8088" y="2148840"/>
            <a:ext cx="26029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8088" y="2148840"/>
            <a:ext cx="2602992" cy="5486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24" name="Text 22"/>
          <p:cNvSpPr/>
          <p:nvPr/>
        </p:nvSpPr>
        <p:spPr>
          <a:xfrm>
            <a:off x="6202680" y="2331720"/>
            <a:ext cx="2273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公共空间组织强度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202680" y="2807208"/>
            <a:ext cx="2273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3A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先骨架 · 后开发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02680" y="3118104"/>
            <a:ext cx="2273808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02680" y="3191256"/>
            <a:ext cx="2273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以广场、街巷、滨水、绿地、步行通廊为先导控制要素，再安排商业、办公与展示，避免地面冷清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STRATEGY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多层立体 TOD：三层地下连通廊道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04 / 06</a:t>
            </a:r>
            <a:endParaRPr lang="en-US" sz="800" dirty="0"/>
          </a:p>
        </p:txBody>
      </p:sp>
      <p:pic>
        <p:nvPicPr>
          <p:cNvPr id="9" name="Image 0" descr="/Users/peilinli/Desktop/Vibecoding/urban-renewal-report/照片/配图/和平片区/tod_warehouse_atri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00200"/>
            <a:ext cx="3520440" cy="2743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600200"/>
            <a:ext cx="3520440" cy="2743200"/>
          </a:xfrm>
          <a:prstGeom prst="rect">
            <a:avLst/>
          </a:prstGeom>
          <a:noFill/>
          <a:ln w="9525">
            <a:solidFill>
              <a:srgbClr val="1A151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4379976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· 工业主题地下步行街设想：串联地铁、厂房、会展与地下配套商业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343400" y="1645920"/>
            <a:ext cx="42976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1645920"/>
            <a:ext cx="73152" cy="896112"/>
          </a:xfrm>
          <a:prstGeom prst="rect">
            <a:avLst/>
          </a:prstGeom>
          <a:solidFill>
            <a:srgbClr val="4A8FC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地下一层 · 人行集散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562856" y="2011680"/>
            <a:ext cx="38953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 5 号线杭氧站修工业主题步行街直达主厂房，东延连通 15 号线站；设下沉广场引自然光，全天候无风雨通行</a:t>
            </a:r>
            <a:endParaRPr lang="en-US" sz="920" dirty="0"/>
          </a:p>
        </p:txBody>
      </p:sp>
      <p:sp>
        <p:nvSpPr>
          <p:cNvPr id="16" name="Shape 13"/>
          <p:cNvSpPr/>
          <p:nvPr/>
        </p:nvSpPr>
        <p:spPr>
          <a:xfrm>
            <a:off x="4343400" y="2615184"/>
            <a:ext cx="42976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43400" y="2615184"/>
            <a:ext cx="73152" cy="896112"/>
          </a:xfrm>
          <a:prstGeom prst="rect">
            <a:avLst/>
          </a:prstGeom>
          <a:solidFill>
            <a:srgbClr val="4A8FC4"/>
          </a:solidFill>
          <a:ln/>
        </p:spPr>
      </p:sp>
      <p:sp>
        <p:nvSpPr>
          <p:cNvPr id="18" name="Text 15"/>
          <p:cNvSpPr/>
          <p:nvPr/>
        </p:nvSpPr>
        <p:spPr>
          <a:xfrm>
            <a:off x="4562856" y="27066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地下二层 · 货运后勤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62856" y="2980944"/>
            <a:ext cx="38953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独立大件展品货运通道，人车分流；厂房吊装口与货运通道垂直对接，利用 12–18m 超高层高完成装卸</a:t>
            </a:r>
            <a:endParaRPr lang="en-US" sz="920" dirty="0"/>
          </a:p>
        </p:txBody>
      </p:sp>
      <p:sp>
        <p:nvSpPr>
          <p:cNvPr id="20" name="Shape 17"/>
          <p:cNvSpPr/>
          <p:nvPr/>
        </p:nvSpPr>
        <p:spPr>
          <a:xfrm>
            <a:off x="4343400" y="3584448"/>
            <a:ext cx="42976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43400" y="3584448"/>
            <a:ext cx="73152" cy="896112"/>
          </a:xfrm>
          <a:prstGeom prst="rect">
            <a:avLst/>
          </a:prstGeom>
          <a:solidFill>
            <a:srgbClr val="4A8FC4"/>
          </a:solidFill>
          <a:ln/>
        </p:spPr>
      </p:sp>
      <p:sp>
        <p:nvSpPr>
          <p:cNvPr id="22" name="Text 19"/>
          <p:cNvSpPr/>
          <p:nvPr/>
        </p:nvSpPr>
        <p:spPr>
          <a:xfrm>
            <a:off x="4562856" y="36758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地下三层 · 共享停车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4562856" y="3950208"/>
            <a:ext cx="38953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整合厂区与会展车库建错峰共享机制：展期优先客商，非展期向居民与科创企业开放，盘活闲置车位</a:t>
            </a:r>
            <a:endParaRPr lang="en-US" sz="9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STRATEGY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地面织补：慢行环 · 空中连廊 · 缝合广场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04 / 06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691640"/>
            <a:ext cx="813816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691640"/>
            <a:ext cx="73152" cy="841248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" y="1691640"/>
            <a:ext cx="822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8C0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180136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1.8km 工业记忆慢行环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600200" y="2112264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拆除沿街封闭围墙，打通厂区与城市边界；串联地铁口、老铁轨、巨型行车、烟囱中央广场、会展前广场，保留机床基座、工业管道作景观节点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02920" y="2642616"/>
            <a:ext cx="813816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" y="2642616"/>
            <a:ext cx="73152" cy="841248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" y="2642616"/>
            <a:ext cx="822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8C0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00200" y="2752344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钢构空中连廊系统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306324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轻量化钢构步行廊道串联 7 栋核心历史厂房与会展配套，人流立体分流；预留户外展陈界面，悬挂重工装置，打造空中工业展廊，解决雨天往返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502920" y="3593592"/>
            <a:ext cx="813816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" y="3593592"/>
            <a:ext cx="73152" cy="841248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" y="3593592"/>
            <a:ext cx="822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8C0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600200" y="3703320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万㎡工业中央缝合广场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401421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片区核心公共节点，汇聚地铁、会展、社区三类人群；保留老式火车头、巨型储气罐，承接露天市集、开幕式、工业展演，打破厂区孤岛效应</a:t>
            </a:r>
            <a:endParaRPr lang="en-US" sz="9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STRATEGY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遗存分层释放：10.3 万㎡ 分级保护利用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04 / 06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3619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杭氧连片遗存占地 10.3 万㎡，为杭州规模最大重工遗存集群，采用分级保护、分层利用，避免单一功能浪费超大厂房空间。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057400"/>
            <a:ext cx="8138160" cy="548640"/>
          </a:xfrm>
          <a:prstGeom prst="rect">
            <a:avLst/>
          </a:prstGeom>
          <a:solidFill>
            <a:srgbClr val="F8F6F2"/>
          </a:solidFill>
          <a:ln w="6350">
            <a:solidFill>
              <a:srgbClr val="E4DE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057400"/>
            <a:ext cx="73152" cy="54864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722376" y="20574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一级核心遗存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06040" y="20574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最小干预加固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86200" y="2057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主生产车间、大型行车、空压机组、烟囱——完整保留原生生产场景，永久作工业博览与大型特展空间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02920" y="2679192"/>
            <a:ext cx="81381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4DE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679192"/>
            <a:ext cx="73152" cy="548640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17" name="Text 15"/>
          <p:cNvSpPr/>
          <p:nvPr/>
        </p:nvSpPr>
        <p:spPr>
          <a:xfrm>
            <a:off x="722376" y="26791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二级附属厂房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06040" y="267919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结构加固升级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886200" y="2679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机加工辅房、装配车间——采光保温升级、内部灵活分割，植入策展企业、工业设计工作室、研学教室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" y="3300984"/>
            <a:ext cx="8138160" cy="548640"/>
          </a:xfrm>
          <a:prstGeom prst="rect">
            <a:avLst/>
          </a:prstGeom>
          <a:solidFill>
            <a:srgbClr val="F8F6F2"/>
          </a:solidFill>
          <a:ln w="6350">
            <a:solidFill>
              <a:srgbClr val="E4DE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300984"/>
            <a:ext cx="73152" cy="548640"/>
          </a:xfrm>
          <a:prstGeom prst="rect">
            <a:avLst/>
          </a:prstGeom>
          <a:solidFill>
            <a:srgbClr val="7BA38E"/>
          </a:solidFill>
          <a:ln/>
        </p:spPr>
      </p:sp>
      <p:sp>
        <p:nvSpPr>
          <p:cNvPr id="22" name="Text 20"/>
          <p:cNvSpPr/>
          <p:nvPr/>
        </p:nvSpPr>
        <p:spPr>
          <a:xfrm>
            <a:off x="722376" y="330098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新建配套建筑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06040" y="330098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A3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新旧对话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86200" y="330098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紧邻历史厂房布局，承载办公、酒店、仓储后勤；现代金属与清水混凝土立面与红砖锈钢肌理对话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502920" y="3922776"/>
            <a:ext cx="81381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4DED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3922776"/>
            <a:ext cx="73152" cy="548640"/>
          </a:xfrm>
          <a:prstGeom prst="rect">
            <a:avLst/>
          </a:prstGeom>
          <a:solidFill>
            <a:srgbClr val="4A8FC4"/>
          </a:solidFill>
          <a:ln/>
        </p:spPr>
      </p:sp>
      <p:sp>
        <p:nvSpPr>
          <p:cNvPr id="27" name="Text 25"/>
          <p:cNvSpPr/>
          <p:nvPr/>
        </p:nvSpPr>
        <p:spPr>
          <a:xfrm>
            <a:off x="722376" y="392277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万㎡中央缝合广场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06040" y="392277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8F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核心公共节点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886200" y="39227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保留老式火车头、巨型储气罐构筑物，承接露天市集、开幕式、工业展演，汇聚三类人群</a:t>
            </a:r>
            <a:endParaRPr lang="en-US" sz="93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STRATEGY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四维改造手法：摆脱简单修缮翻新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04 / 06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691640"/>
            <a:ext cx="3995928" cy="1492758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691640"/>
            <a:ext cx="82296" cy="1492758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" y="1801368"/>
            <a:ext cx="3630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分级差异修缮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22376" y="2148840"/>
            <a:ext cx="3593592" cy="925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一级保留锈蚀肌理、生产痕迹不粉刷；二级完善设施灵活拆分；新建强对比塑城市界面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4645152" y="1691640"/>
            <a:ext cx="3995928" cy="1492758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45152" y="1691640"/>
            <a:ext cx="82296" cy="1492758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15" name="Text 13"/>
          <p:cNvSpPr/>
          <p:nvPr/>
        </p:nvSpPr>
        <p:spPr>
          <a:xfrm>
            <a:off x="4864608" y="1801368"/>
            <a:ext cx="3630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新旧对话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64608" y="2148840"/>
            <a:ext cx="3593592" cy="925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粗粝金属、清水混凝土、大面积极简玻璃，与老厂房红砖锈钢形成强烈新旧对比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502920" y="3330702"/>
            <a:ext cx="3995928" cy="1492758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330702"/>
            <a:ext cx="82296" cy="1492758"/>
          </a:xfrm>
          <a:prstGeom prst="rect">
            <a:avLst/>
          </a:prstGeom>
          <a:solidFill>
            <a:srgbClr val="7BA38E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" y="3440430"/>
            <a:ext cx="3630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A3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构筑物功能化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22376" y="3787902"/>
            <a:ext cx="3593592" cy="925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铁轨、行车、储气罐、烟囱转化为观景平台、空中展廊、光影构筑物，而非拍照背景墙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4645152" y="3330702"/>
            <a:ext cx="3995928" cy="1492758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45152" y="3330702"/>
            <a:ext cx="82296" cy="1492758"/>
          </a:xfrm>
          <a:prstGeom prst="rect">
            <a:avLst/>
          </a:prstGeom>
          <a:solidFill>
            <a:srgbClr val="4A8FC4"/>
          </a:solidFill>
          <a:ln/>
        </p:spPr>
      </p:sp>
      <p:sp>
        <p:nvSpPr>
          <p:cNvPr id="23" name="Text 21"/>
          <p:cNvSpPr/>
          <p:nvPr/>
        </p:nvSpPr>
        <p:spPr>
          <a:xfrm>
            <a:off x="4864608" y="3440430"/>
            <a:ext cx="3630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8F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全域数字叙事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64608" y="3787902"/>
            <a:ext cx="3593592" cy="925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 数字导览、元宇宙工厂展厅、全息历史剧场，动态讲述专属杭氧重工历史</a:t>
            </a:r>
            <a:endParaRPr lang="en-US" sz="9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eilinli/Desktop/Vibecoding/urban-renewal-report/照片/配图/和平片区/daping_forum_st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4" name="Shape 1"/>
          <p:cNvSpPr/>
          <p:nvPr/>
        </p:nvSpPr>
        <p:spPr>
          <a:xfrm>
            <a:off x="4937760" y="0"/>
            <a:ext cx="731520" cy="5143500"/>
          </a:xfrm>
          <a:prstGeom prst="rect">
            <a:avLst/>
          </a:prstGeom>
          <a:solidFill>
            <a:srgbClr val="1A1512">
              <a:alpha val="6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96012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2A24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30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640080" cy="45720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23957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 STRATEGY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运营策略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02920" y="34290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空间是容器，运营决定成败：以独家重工 IP 立差异，以会展双向联动稳客流，以五大业态与运营前置机制，把短期客流转化为长期活力。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运营策略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 STRATEGY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独家重工 IP：制氧工业实景博物馆集群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05 / 06</a:t>
            </a:r>
            <a:endParaRPr lang="en-US" sz="800" dirty="0"/>
          </a:p>
        </p:txBody>
      </p:sp>
      <p:pic>
        <p:nvPicPr>
          <p:cNvPr id="9" name="Image 0" descr="/Users/peilinli/Desktop/Vibecoding/urban-renewal-report/照片/配图/和平片区/daping_forum_st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00200"/>
            <a:ext cx="3520440" cy="2743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600200"/>
            <a:ext cx="3520440" cy="2743200"/>
          </a:xfrm>
          <a:prstGeom prst="rect">
            <a:avLst/>
          </a:prstGeom>
          <a:noFill/>
          <a:ln w="9525">
            <a:solidFill>
              <a:srgbClr val="1A151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4379976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· 大跨厂房转化为博览展演空间：完整保留重工生产线，形成标准展馆无法复制的场景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343400" y="16276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杭氧为建国初期亚洲规模第一制氧装备制造基地，拥有国内稀缺完整重工生产线遗存——采用“原生实景保留 + 数字动态复原”双模式活化。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343400" y="2359152"/>
            <a:ext cx="429768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43400" y="2359152"/>
            <a:ext cx="73152" cy="621792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5" name="Text 12"/>
          <p:cNvSpPr/>
          <p:nvPr/>
        </p:nvSpPr>
        <p:spPr>
          <a:xfrm>
            <a:off x="4544568" y="243230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实体静态展陈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44568" y="26700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空分机组、行车吊装系统原地陈列，保留油污、标语、管道，还原真实生产场景</a:t>
            </a:r>
            <a:endParaRPr lang="en-US" sz="860" dirty="0"/>
          </a:p>
        </p:txBody>
      </p:sp>
      <p:sp>
        <p:nvSpPr>
          <p:cNvPr id="17" name="Shape 14"/>
          <p:cNvSpPr/>
          <p:nvPr/>
        </p:nvSpPr>
        <p:spPr>
          <a:xfrm>
            <a:off x="4343400" y="3054096"/>
            <a:ext cx="429768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3400" y="3054096"/>
            <a:ext cx="73152" cy="621792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9" name="Text 16"/>
          <p:cNvSpPr/>
          <p:nvPr/>
        </p:nvSpPr>
        <p:spPr>
          <a:xfrm>
            <a:off x="4544568" y="312724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数字沉浸叙事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544568" y="3364992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全域 AR 导览 + 全息数字展厅，复原车间生产流程与军工配套制造历史</a:t>
            </a:r>
            <a:endParaRPr lang="en-US" sz="860" dirty="0"/>
          </a:p>
        </p:txBody>
      </p:sp>
      <p:sp>
        <p:nvSpPr>
          <p:cNvPr id="21" name="Shape 18"/>
          <p:cNvSpPr/>
          <p:nvPr/>
        </p:nvSpPr>
        <p:spPr>
          <a:xfrm>
            <a:off x="4343400" y="3749040"/>
            <a:ext cx="429768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343400" y="3749040"/>
            <a:ext cx="73152" cy="621792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3" name="Text 20"/>
          <p:cNvSpPr/>
          <p:nvPr/>
        </p:nvSpPr>
        <p:spPr>
          <a:xfrm>
            <a:off x="4544568" y="382219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机械互动体验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544568" y="4059936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设备拆解操作台、机械传动装置，面向中小学与工科院校开放实训体验</a:t>
            </a:r>
            <a:endParaRPr lang="en-US" sz="86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运营策略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 STRATEGY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会展联动：主馆 + 遗存分展馆，错峰运营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05 / 06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691640"/>
            <a:ext cx="1931670" cy="457200"/>
          </a:xfrm>
          <a:prstGeom prst="rect">
            <a:avLst/>
          </a:prstGeom>
          <a:solidFill>
            <a:srgbClr val="4A8FC4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691640"/>
            <a:ext cx="17487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主馆稳底盘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203704"/>
            <a:ext cx="193167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" y="2331720"/>
            <a:ext cx="165735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和平会展中心主馆</a:t>
            </a:r>
            <a:endParaRPr lang="en-US" sz="900" dirty="0"/>
          </a:p>
          <a:p>
            <a:pPr marL="127000" indent="-1270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大型行业博览、综合消费展</a:t>
            </a:r>
            <a:endParaRPr lang="en-US" sz="900" dirty="0"/>
          </a:p>
          <a:p>
            <a:pPr marL="127000" indent="-1270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稳定片区基础客流底盘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71750" y="1691640"/>
            <a:ext cx="1931670" cy="4572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/>
          <p:nvPr/>
        </p:nvSpPr>
        <p:spPr>
          <a:xfrm>
            <a:off x="2663190" y="1691640"/>
            <a:ext cx="17487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遗存分展馆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571750" y="2203704"/>
            <a:ext cx="193167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18054" y="2331720"/>
            <a:ext cx="165735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超高主厂房办时装秀、装置艺术展</a:t>
            </a:r>
            <a:endParaRPr lang="en-US" sz="900" dirty="0"/>
          </a:p>
          <a:p>
            <a:pPr marL="127000" indent="-1270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中型厂房办论坛、设计周、装备特展</a:t>
            </a:r>
            <a:endParaRPr lang="en-US" sz="900" dirty="0"/>
          </a:p>
          <a:p>
            <a:pPr marL="127000" indent="-1270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小型辅房作发布会、媒体中心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40580" y="1691640"/>
            <a:ext cx="1931670" cy="457200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18" name="Text 16"/>
          <p:cNvSpPr/>
          <p:nvPr/>
        </p:nvSpPr>
        <p:spPr>
          <a:xfrm>
            <a:off x="4732020" y="1691640"/>
            <a:ext cx="17487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分时段错峰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40580" y="2203704"/>
            <a:ext cx="193167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6884" y="2331720"/>
            <a:ext cx="165735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旺季：全厂房开放特展与首发</a:t>
            </a:r>
            <a:endParaRPr lang="en-US" sz="900" dirty="0"/>
          </a:p>
          <a:p>
            <a:pPr marL="127000" indent="-1270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淡季：转科创培训、研学、驻留</a:t>
            </a:r>
            <a:endParaRPr lang="en-US" sz="900" dirty="0"/>
          </a:p>
          <a:p>
            <a:pPr marL="127000" indent="-1270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消除淡旺季落差、避免空置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709410" y="1691640"/>
            <a:ext cx="1931670" cy="457200"/>
          </a:xfrm>
          <a:prstGeom prst="rect">
            <a:avLst/>
          </a:prstGeom>
          <a:solidFill>
            <a:srgbClr val="7BA38E"/>
          </a:solidFill>
          <a:ln/>
        </p:spPr>
      </p:sp>
      <p:sp>
        <p:nvSpPr>
          <p:cNvPr id="22" name="Text 20"/>
          <p:cNvSpPr/>
          <p:nvPr/>
        </p:nvSpPr>
        <p:spPr>
          <a:xfrm>
            <a:off x="6800850" y="1691640"/>
            <a:ext cx="17487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全链条配套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709410" y="2203704"/>
            <a:ext cx="193167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5714" y="2331720"/>
            <a:ext cx="165735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精品艺术酒店、商务洽谈中心</a:t>
            </a:r>
            <a:endParaRPr lang="en-US" sz="900" dirty="0"/>
          </a:p>
          <a:p>
            <a:pPr marL="127000" indent="-1270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会展主题餐饮、策展服务中心</a:t>
            </a:r>
            <a:endParaRPr lang="en-US" sz="900" dirty="0"/>
          </a:p>
          <a:p>
            <a:pPr marL="127000" indent="-1270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5A53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观展—游览—餐宿—对接闭环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4343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标准化会展 + 工业特色主题展互补组合，把短期展会客流转化为片区长期稳定消费力。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运营策略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 STRATEGY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五大复合业态矩阵：跳出文创套路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05 / 06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645920"/>
            <a:ext cx="81381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645920"/>
            <a:ext cx="457200" cy="5120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64592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06424" y="16459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重工博览科普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200400" y="1645920"/>
            <a:ext cx="5257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国家级工业研学基地、专题展馆集群，对接工科院校与中小学，形成稳定日常客流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240280"/>
            <a:ext cx="81381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" y="2240280"/>
            <a:ext cx="457200" cy="512064"/>
          </a:xfrm>
          <a:prstGeom prst="rect">
            <a:avLst/>
          </a:prstGeom>
          <a:solidFill>
            <a:srgbClr val="4A8FC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24028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06424" y="224028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会展 + 科创融合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00400" y="2240280"/>
            <a:ext cx="5257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定向招工业设计、数字建模、新材料、策展企业，与 LOFT49 平面文创上下游互补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834640"/>
            <a:ext cx="81381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" y="2834640"/>
            <a:ext cx="457200" cy="51206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28346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06424" y="283464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硬核潮流文体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200400" y="2834640"/>
            <a:ext cx="5257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利用超高大跨空间布局极限运动、Livehouse、电竞、沉浸剧场，吸引青年群体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3429000"/>
            <a:ext cx="81381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02920" y="3429000"/>
            <a:ext cx="457200" cy="512064"/>
          </a:xfrm>
          <a:prstGeom prst="rect">
            <a:avLst/>
          </a:prstGeom>
          <a:solidFill>
            <a:srgbClr val="7BA38E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42900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06424" y="342900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全龄社区共享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200400" y="3429000"/>
            <a:ext cx="5257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社区图书馆、健身中心、邻里市集、少儿手工，消解绅士化、承载 15 分钟生活圈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023360"/>
            <a:ext cx="81381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4023360"/>
            <a:ext cx="457200" cy="512064"/>
          </a:xfrm>
          <a:prstGeom prst="rect">
            <a:avLst/>
          </a:prstGeom>
          <a:solidFill>
            <a:srgbClr val="8B3A30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402336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106424" y="402336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重工主题商业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200400" y="4023360"/>
            <a:ext cx="5257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围绕制氧机械 IP 开发主题餐饮、模型馆、文创店、工业民宿，严控标准化网红连锁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运营策略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 STRATEGY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运营前置：片区级“四统一”机制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05 / 06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A24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LOFT49 最值得借鉴的不是具体业态，而是运营前置。片区规模更大，若只重建设、不重运营，风险更明显——须建立片区级运营机制。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148840"/>
            <a:ext cx="3995928" cy="1264158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2148840"/>
            <a:ext cx="82296" cy="1264158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722376" y="2240280"/>
            <a:ext cx="3630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统一品牌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2376" y="2551176"/>
            <a:ext cx="3593592" cy="770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形成统一的“大和平城市中心”品牌识别，而非若干项目名称的简单拼接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645152" y="2148840"/>
            <a:ext cx="3995928" cy="1264158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45152" y="2148840"/>
            <a:ext cx="82296" cy="1264158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16" name="Text 14"/>
          <p:cNvSpPr/>
          <p:nvPr/>
        </p:nvSpPr>
        <p:spPr>
          <a:xfrm>
            <a:off x="4864608" y="2240280"/>
            <a:ext cx="3630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9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统一活动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64608" y="2551176"/>
            <a:ext cx="3593592" cy="770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全年围绕展览、发布、节庆、市集、夜间消费、青年文化组织公共事件，内容持续更新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502920" y="3559302"/>
            <a:ext cx="3995928" cy="1264158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" y="3559302"/>
            <a:ext cx="82296" cy="1264158"/>
          </a:xfrm>
          <a:prstGeom prst="rect">
            <a:avLst/>
          </a:prstGeom>
          <a:solidFill>
            <a:srgbClr val="7BA38E"/>
          </a:solidFill>
          <a:ln/>
        </p:spPr>
      </p:sp>
      <p:sp>
        <p:nvSpPr>
          <p:cNvPr id="20" name="Text 18"/>
          <p:cNvSpPr/>
          <p:nvPr/>
        </p:nvSpPr>
        <p:spPr>
          <a:xfrm>
            <a:off x="722376" y="3650742"/>
            <a:ext cx="3630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A3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统一招商准入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22376" y="3961638"/>
            <a:ext cx="3593592" cy="770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优先导入展示型、体验型、创意型、科技型、公共型业态，避免低端重复商业占据核心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645152" y="3559302"/>
            <a:ext cx="3995928" cy="1264158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45152" y="3559302"/>
            <a:ext cx="82296" cy="1264158"/>
          </a:xfrm>
          <a:prstGeom prst="rect">
            <a:avLst/>
          </a:prstGeom>
          <a:solidFill>
            <a:srgbClr val="4A8FC4"/>
          </a:solidFill>
          <a:ln/>
        </p:spPr>
      </p:sp>
      <p:sp>
        <p:nvSpPr>
          <p:cNvPr id="24" name="Text 22"/>
          <p:cNvSpPr/>
          <p:nvPr/>
        </p:nvSpPr>
        <p:spPr>
          <a:xfrm>
            <a:off x="4864608" y="3650742"/>
            <a:ext cx="3630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8F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统一公共空间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64608" y="3961638"/>
            <a:ext cx="3593592" cy="770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广场、街巷、连廊、滨水与中庭形成整体导视、夜景、开放时间与运营维护机制</a:t>
            </a:r>
            <a:endParaRPr lang="en-US" sz="9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运营策略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 STRATEGY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需规避的风险：五条底线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05 / 06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645920"/>
            <a:ext cx="81381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645920"/>
            <a:ext cx="73152" cy="5120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64592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16152" y="164592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忌复制文创园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0" y="164592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区位更中心、尺度更大、商业更强，简单套用文创园模式易定位虚化、招商困难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240280"/>
            <a:ext cx="81381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" y="2240280"/>
            <a:ext cx="73152" cy="5120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24028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16152" y="224028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忌单一综合体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0" y="224028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过度依赖购物中心逻辑会削弱公共性与开放性，与成熟商圈同质竞争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834640"/>
            <a:ext cx="81381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" y="2834640"/>
            <a:ext cx="73152" cy="5120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8346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16152" y="28346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忌高强度压倒公共空间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283464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若地面被塔楼、车库、后场切割，形象再现代也难以形成真正活力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3429000"/>
            <a:ext cx="81381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02920" y="3429000"/>
            <a:ext cx="73152" cy="5120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42900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16152" y="342900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忌先建设后运营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0" y="342900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须在规划阶段同步考虑运营主体、招商方向、活动体系与公共空间管理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023360"/>
            <a:ext cx="81381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4023360"/>
            <a:ext cx="73152" cy="5120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402336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16152" y="40233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忌文化记忆表皮化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0" y="402336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不用符号装置、仿工业风表达历史，而把会展与公共活动记忆转化为可用功能场景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eilinli/Desktop/Vibecoding/urban-renewal-report/照片/配图/和平片区/industrial_in_cit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4" name="Shape 1"/>
          <p:cNvSpPr/>
          <p:nvPr/>
        </p:nvSpPr>
        <p:spPr>
          <a:xfrm>
            <a:off x="4937760" y="0"/>
            <a:ext cx="731520" cy="5143500"/>
          </a:xfrm>
          <a:prstGeom prst="rect">
            <a:avLst/>
          </a:prstGeom>
          <a:solidFill>
            <a:srgbClr val="1A1512">
              <a:alpha val="6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96012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2A24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30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640080" cy="45720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23957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实施要点与展望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02920" y="34290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从战略到落地：以多主体统筹、双向导流、一体化交通管控保障实施，推动片区成为城北唯一的复合型城市更新标杆。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solidFill>
            <a:srgbClr val="1A151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96696" y="329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实施要点与展望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6696" y="5669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落地保障：三大协同机制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408176"/>
            <a:ext cx="502920" cy="3200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48691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 · 轨道枢纽型工业博览会展综合体        06 / 06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737360"/>
            <a:ext cx="81381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737360"/>
            <a:ext cx="73152" cy="78638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" y="1737360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C0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184708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多主体统筹分工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600200" y="2157984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区政府统筹空间规划；地铁集团建 TOD 地下廊道；会展集团运营会展；文旅集团负责工业文博——片区统一运营，避免权责割裂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02920" y="2651760"/>
            <a:ext cx="81381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" y="2651760"/>
            <a:ext cx="73152" cy="78638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" y="2651760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C0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00200" y="276148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双向导流票务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3072384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会展门票附赠工业博物馆参观权益，博物馆套票含特展入场券，实现客流双向引流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502920" y="3566160"/>
            <a:ext cx="81381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4DE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" y="3566160"/>
            <a:ext cx="73152" cy="786384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" y="3566160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C0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600200" y="367588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5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一体化交通管控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3986784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8A82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展会期间统一调度地下货运通道与地面慢行环，增设临时接驳公交串联地铁、社区与会展空间</a:t>
            </a:r>
            <a:endParaRPr lang="en-US" sz="93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eilinli/Desktop/Vibecoding/urban-renewal-report/照片/配图/和平片区/industrial_in_cit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512">
              <a:alpha val="7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1371600" y="1691640"/>
            <a:ext cx="6400800" cy="1783080"/>
          </a:xfrm>
          <a:prstGeom prst="rect">
            <a:avLst/>
          </a:prstGeom>
          <a:solidFill>
            <a:srgbClr val="1A1512">
              <a:alpha val="7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1371600" y="1691640"/>
            <a:ext cx="640080" cy="45720"/>
          </a:xfrm>
          <a:prstGeom prst="rect">
            <a:avLst/>
          </a:prstGeom>
          <a:solidFill>
            <a:srgbClr val="C8A96E"/>
          </a:solidFill>
          <a:ln/>
        </p:spPr>
      </p:sp>
      <p:sp>
        <p:nvSpPr>
          <p:cNvPr id="6" name="Text 3"/>
          <p:cNvSpPr/>
          <p:nvPr/>
        </p:nvSpPr>
        <p:spPr>
          <a:xfrm>
            <a:off x="1371600" y="192024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一个持续运营、持续聚人、持续更新的老城新中心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71600" y="2697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E2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双轨 TOD + 会展遗存一体化 · 重工工业 IP 差异化 · 城北唯一复合型城市更新标杆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4434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C0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和平片区整体规划方案  ·  基于城市规划与建筑设计双重视角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和平片区整体规划方案</dc:title>
  <dc:subject>PptxGenJS Presentation</dc:subject>
  <dc:creator>规划设计团队</dc:creator>
  <cp:lastModifiedBy>规划设计团队</cp:lastModifiedBy>
  <cp:revision>1</cp:revision>
  <dcterms:created xsi:type="dcterms:W3CDTF">2026-07-07T07:54:35Z</dcterms:created>
  <dcterms:modified xsi:type="dcterms:W3CDTF">2026-07-07T07:54:35Z</dcterms:modified>
</cp:coreProperties>
</file>