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ilinli/Desktop/Vibecoding/urban-renewal-report/照片/配图/和平片区/industrial_in_cit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4" name="Shape 1"/>
          <p:cNvSpPr/>
          <p:nvPr/>
        </p:nvSpPr>
        <p:spPr>
          <a:xfrm>
            <a:off x="4206240" y="0"/>
            <a:ext cx="1280160" cy="5143500"/>
          </a:xfrm>
          <a:prstGeom prst="rect">
            <a:avLst/>
          </a:prstGeom>
          <a:solidFill>
            <a:srgbClr val="1A1512">
              <a:alpha val="6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371600"/>
            <a:ext cx="640080" cy="4572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HEPING DISTRICT · URBAN RENEWAL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17830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和平片区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从孤岛地标到城市节点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0292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区域联动视角下的更新重构 · 整体规划方案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基于城市规划与建筑设计双重视角   |   原杭锅厂房地块 · 约 20 公顷   | 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0080"/>
            <a:ext cx="640080" cy="4572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498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82296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57800" y="868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区域坐标与关系网络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257800" y="11887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&amp; Network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57800" y="1481328"/>
            <a:ext cx="3657600" cy="0"/>
          </a:xfrm>
          <a:prstGeom prst="line">
            <a:avLst/>
          </a:prstGeom>
          <a:noFill/>
          <a:ln w="12700">
            <a:solidFill>
              <a:srgbClr val="2A24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50876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257800" y="1554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现存问题诊断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57800" y="18745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Diagnosis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257800" y="2167128"/>
            <a:ext cx="3657600" cy="0"/>
          </a:xfrm>
          <a:prstGeom prst="line">
            <a:avLst/>
          </a:prstGeom>
          <a:noFill/>
          <a:ln w="12700">
            <a:solidFill>
              <a:srgbClr val="2A24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19456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57800" y="2240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总体战略：从孤岛地标到城市节点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57800" y="25603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Strategy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57800" y="2852928"/>
            <a:ext cx="3657600" cy="0"/>
          </a:xfrm>
          <a:prstGeom prst="line">
            <a:avLst/>
          </a:prstGeom>
          <a:noFill/>
          <a:ln w="12700">
            <a:solidFill>
              <a:srgbClr val="2A24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288036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257800" y="29260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空间策略：存量为体，织补为用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57800" y="32461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Strategy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57800" y="3538728"/>
            <a:ext cx="3657600" cy="0"/>
          </a:xfrm>
          <a:prstGeom prst="line">
            <a:avLst/>
          </a:prstGeom>
          <a:noFill/>
          <a:ln w="12700">
            <a:solidFill>
              <a:srgbClr val="2A24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56616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257800" y="3611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运营策略：引流—留人—自持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57800" y="39319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Loop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57800" y="4224528"/>
            <a:ext cx="3657600" cy="0"/>
          </a:xfrm>
          <a:prstGeom prst="line">
            <a:avLst/>
          </a:prstGeom>
          <a:noFill/>
          <a:ln w="12700">
            <a:solidFill>
              <a:srgbClr val="2A24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425196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257800" y="4297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实施要点与展望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57800" y="46177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ilinli/Desktop/Vibecoding/urban-renewal-report/照片/配图/和平片区/industrial_in_cit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0"/>
            <a:ext cx="420624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4" name="Shape 1"/>
          <p:cNvSpPr/>
          <p:nvPr/>
        </p:nvSpPr>
        <p:spPr>
          <a:xfrm>
            <a:off x="4937760" y="0"/>
            <a:ext cx="731520" cy="5143500"/>
          </a:xfrm>
          <a:prstGeom prst="rect">
            <a:avLst/>
          </a:prstGeom>
          <a:solidFill>
            <a:srgbClr val="1A1512">
              <a:alpha val="6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96012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2A24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0" dirty="0"/>
          </a:p>
        </p:txBody>
      </p:sp>
      <p:sp>
        <p:nvSpPr>
          <p:cNvPr id="6" name="Shape 3"/>
          <p:cNvSpPr/>
          <p:nvPr/>
        </p:nvSpPr>
        <p:spPr>
          <a:xfrm>
            <a:off x="502920" y="2286000"/>
            <a:ext cx="640080" cy="4572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&amp; NETWORK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区域坐标与关系网络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02920" y="34290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跳出片区看片区：先在宏观—中观—微观三个尺度上厘清坐标，再在人口、产业、交通、文化、商业五个维度上梳理关系网络。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96696" y="3291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区域坐标与关系网络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6696" y="5669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&amp; NETWORK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区域坐标：宏观—中观—微观三尺度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408176"/>
            <a:ext cx="502920" cy="3200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8691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和平片区 · 从孤岛地标到城市节点        01 / 06</a:t>
            </a:r>
            <a:endParaRPr lang="en-US" sz="800" dirty="0"/>
          </a:p>
        </p:txBody>
      </p:sp>
      <p:pic>
        <p:nvPicPr>
          <p:cNvPr id="9" name="Image 0" descr="/Users/peilinli/Desktop/Vibecoding/urban-renewal-report/照片/配图/和平片区/和平片区 区位图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600200"/>
            <a:ext cx="2743200" cy="2834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1600200"/>
            <a:ext cx="2743200" cy="2834640"/>
          </a:xfrm>
          <a:prstGeom prst="rect">
            <a:avLst/>
          </a:prstGeom>
          <a:ln w="9525">
            <a:solidFill>
              <a:srgbClr val="1A151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44714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· 和平片区区位：大和平商圈“一心”所在，三向轨道环伺的 20 公顷工业遗存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566160" y="1600200"/>
            <a:ext cx="50749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66160" y="1600200"/>
            <a:ext cx="73152" cy="9144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4" name="Shape 11"/>
          <p:cNvSpPr/>
          <p:nvPr/>
        </p:nvSpPr>
        <p:spPr>
          <a:xfrm>
            <a:off x="3767328" y="1773936"/>
            <a:ext cx="566928" cy="566928"/>
          </a:xfrm>
          <a:prstGeom prst="ellipse">
            <a:avLst/>
          </a:prstGeom>
          <a:solidFill>
            <a:srgbClr val="1A1512"/>
          </a:solidFill>
          <a:ln/>
        </p:spPr>
      </p:sp>
      <p:sp>
        <p:nvSpPr>
          <p:cNvPr id="15" name="Text 12"/>
          <p:cNvSpPr/>
          <p:nvPr/>
        </p:nvSpPr>
        <p:spPr>
          <a:xfrm>
            <a:off x="3767328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8A9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480560" y="171907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 · 拱墅区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480560" y="200253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位于东新路“产城融合轴”关键节点，处武林湖滨（南 2.5km）与拱宸桥运河文化中心（北 4km）之间的过渡地带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566160" y="2642616"/>
            <a:ext cx="50749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566160" y="2642616"/>
            <a:ext cx="73152" cy="9144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0" name="Shape 17"/>
          <p:cNvSpPr/>
          <p:nvPr/>
        </p:nvSpPr>
        <p:spPr>
          <a:xfrm>
            <a:off x="3767328" y="2816352"/>
            <a:ext cx="566928" cy="566928"/>
          </a:xfrm>
          <a:prstGeom prst="ellipse">
            <a:avLst/>
          </a:prstGeom>
          <a:solidFill>
            <a:srgbClr val="1A1512"/>
          </a:solidFill>
          <a:ln/>
        </p:spPr>
      </p:sp>
      <p:sp>
        <p:nvSpPr>
          <p:cNvPr id="21" name="Text 18"/>
          <p:cNvSpPr/>
          <p:nvPr/>
        </p:nvSpPr>
        <p:spPr>
          <a:xfrm>
            <a:off x="3767328" y="2816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8A9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4480560" y="276148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中观 · 大和平商圈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480560" y="304495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434 亿投资、255 万方规模；片区即“一心”所在，官方“三区”已明确设有“文化体验街区”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566160" y="3685032"/>
            <a:ext cx="50749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566160" y="3685032"/>
            <a:ext cx="73152" cy="9144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6" name="Shape 23"/>
          <p:cNvSpPr/>
          <p:nvPr/>
        </p:nvSpPr>
        <p:spPr>
          <a:xfrm>
            <a:off x="3767328" y="3858768"/>
            <a:ext cx="566928" cy="566928"/>
          </a:xfrm>
          <a:prstGeom prst="ellipse">
            <a:avLst/>
          </a:prstGeom>
          <a:solidFill>
            <a:srgbClr val="1A1512"/>
          </a:solidFill>
          <a:ln/>
        </p:spPr>
      </p:sp>
      <p:sp>
        <p:nvSpPr>
          <p:cNvPr id="27" name="Text 24"/>
          <p:cNvSpPr/>
          <p:nvPr/>
        </p:nvSpPr>
        <p:spPr>
          <a:xfrm>
            <a:off x="3767328" y="3858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8A9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4480560" y="380390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微观 · 文晖街道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480560" y="408736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街道内最大存量工业用地更新项目；美团总部等入驻带来年轻白领，消费外溢明显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96696" y="3291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区域坐标与关系网络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6696" y="5669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&amp; NETWORK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关系网络：五个维度的周边关联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408176"/>
            <a:ext cx="502920" cy="3200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8691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和平片区 · 从孤岛地标到城市节点        01 / 06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566928" cy="512064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60020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69848" y="1600200"/>
            <a:ext cx="354787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6152" y="160020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两高一低人口结构，年轻白领消费外溢，亟需品质商业与文化设施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203704"/>
            <a:ext cx="566928" cy="512064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203704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69848" y="2203704"/>
            <a:ext cx="354787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220370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东新路“承北启南”中段核心，衔接科创与商务，人才政策加持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807208"/>
            <a:ext cx="566928" cy="512064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807208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69848" y="2807208"/>
            <a:ext cx="354787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16152" y="280720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四线五站轨道服务，15 号线站在建仅 200m，具 TOD 潜力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410712"/>
            <a:ext cx="566928" cy="512064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410712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69848" y="3410712"/>
            <a:ext cx="354787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16152" y="341071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运河工业带同源遗存节点，与武林之星、LOFT49 构成工业叙事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4014216"/>
            <a:ext cx="566928" cy="512064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014216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69848" y="4014216"/>
            <a:ext cx="354787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16152" y="401421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与武林之星、嘉里城形成竞合矩阵，需主动错位避免同质</a:t>
            </a:r>
            <a:endParaRPr lang="en-US" sz="1000" dirty="0"/>
          </a:p>
        </p:txBody>
      </p:sp>
      <p:pic>
        <p:nvPicPr>
          <p:cNvPr id="29" name="Image 0" descr="/Users/peilinli/Desktop/Vibecoding/urban-renewal-report/照片/配图/和平片区/industrial_in_cit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1600200"/>
            <a:ext cx="3703320" cy="269748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4937760" y="1600200"/>
            <a:ext cx="3703320" cy="2697480"/>
          </a:xfrm>
          <a:prstGeom prst="rect">
            <a:avLst/>
          </a:prstGeom>
          <a:ln w="9525">
            <a:solidFill>
              <a:srgbClr val="1A151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937760" y="4334256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· 工业遗存嵌于城市肌理：锯齿形老厂房被现代住区环抱，构成东新路更新走廊的独特景观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96696" y="3291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区域坐标与关系网络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6696" y="5669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&amp; NETWORK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轨道支撑：四线五站的 TOD 潜力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408176"/>
            <a:ext cx="502920" cy="3200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8691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和平片区 · 从孤岛地标到城市节点        01 / 06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片区被四条轨道线、五个站点环绕，其中 15 号线和平会展中心站在建、距片区仅约 200 米——这是把周边人流“引进来、再分配”的核心基础设施契机。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8138160" cy="384048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22402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A9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线路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01368" y="2240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A9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站点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36008" y="22402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A9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距离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33288" y="22402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A9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步行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739128" y="22402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A9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辐射社区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624328"/>
            <a:ext cx="8138160" cy="502920"/>
          </a:xfrm>
          <a:prstGeom prst="rect">
            <a:avLst/>
          </a:prstGeom>
          <a:solidFill>
            <a:srgbClr val="F8F6F2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26243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号线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01368" y="26243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打铁关站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36008" y="262432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33288" y="26243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min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39128" y="26243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打铁关 · 和平苑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127248"/>
            <a:ext cx="8138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" y="312724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号线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01368" y="31272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杭氧站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36008" y="31272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33288" y="312724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min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39128" y="31272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打铁关 · 京都苑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3630168"/>
            <a:ext cx="8138160" cy="502920"/>
          </a:xfrm>
          <a:prstGeom prst="rect">
            <a:avLst/>
          </a:prstGeom>
          <a:solidFill>
            <a:srgbClr val="F3E4D8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630168"/>
            <a:ext cx="73152" cy="5029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" y="363016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3A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号线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801368" y="36301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和平会展中心站（在建）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36008" y="36301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733288" y="363016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min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39128" y="36301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和平苑 · 现代城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" y="4133088"/>
            <a:ext cx="8138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" y="41330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号线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801368" y="41330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规划新增站点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636008" y="41330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待定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733288" y="413308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39128" y="4133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机场快线功能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02920" y="474573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8B3A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15 号线和平会展中心站仅 200 米 / 步行 3 分钟——TOD 门户效应的核心抓手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ilinli/Desktop/Vibecoding/urban-renewal-report/照片/配图/和平片区/heping_factory_origin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0"/>
            <a:ext cx="420624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4" name="Shape 1"/>
          <p:cNvSpPr/>
          <p:nvPr/>
        </p:nvSpPr>
        <p:spPr>
          <a:xfrm>
            <a:off x="4937760" y="0"/>
            <a:ext cx="731520" cy="5143500"/>
          </a:xfrm>
          <a:prstGeom prst="rect">
            <a:avLst/>
          </a:prstGeom>
          <a:solidFill>
            <a:srgbClr val="1A1512">
              <a:alpha val="6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96012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2A24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0" dirty="0"/>
          </a:p>
        </p:txBody>
      </p:sp>
      <p:sp>
        <p:nvSpPr>
          <p:cNvPr id="6" name="Shape 3"/>
          <p:cNvSpPr/>
          <p:nvPr/>
        </p:nvSpPr>
        <p:spPr>
          <a:xfrm>
            <a:off x="502920" y="2286000"/>
            <a:ext cx="640080" cy="4572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DIAGNOSIS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现存问题诊断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02920" y="34290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直面片区当下的结构性困境：从商业洼地、锚点缺失、同质竞争到物理孤岛，并以 SWOT 与竞合矩阵系统研判它的处境。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96696" y="3291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现存问题诊断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6696" y="5669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DIAGNOSIS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四重结构性困境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408176"/>
            <a:ext cx="502920" cy="3200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8691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和平片区 · 从孤岛地标到城市节点        02 / 06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1952244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737360"/>
            <a:ext cx="1952244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901952"/>
            <a:ext cx="19522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C0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19522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商业洼地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2761488"/>
            <a:ext cx="1769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3A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缺乏流量腹地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3063240"/>
            <a:ext cx="1312164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3108960"/>
            <a:ext cx="16962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片区缺乏稳定的人流腹地支撑，招商聚人能力先天不足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4892" y="1737360"/>
            <a:ext cx="1952244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4892" y="1737360"/>
            <a:ext cx="1952244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2564892" y="1901952"/>
            <a:ext cx="19522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C0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564892" y="2395728"/>
            <a:ext cx="19522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锚点缺失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656332" y="2761488"/>
            <a:ext cx="1769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3A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音乐厅移址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84932" y="3063240"/>
            <a:ext cx="1312164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2908" y="3108960"/>
            <a:ext cx="16962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原核心引流锚点撤出，运营主体待定，短期既缺锚点亦缺操盘手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26864" y="1737360"/>
            <a:ext cx="1952244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1737360"/>
            <a:ext cx="1952244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5" name="Text 23"/>
          <p:cNvSpPr/>
          <p:nvPr/>
        </p:nvSpPr>
        <p:spPr>
          <a:xfrm>
            <a:off x="4626864" y="1901952"/>
            <a:ext cx="19522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C0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626864" y="2395728"/>
            <a:ext cx="19522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同质竞争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718304" y="2761488"/>
            <a:ext cx="1769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3A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被近邻卡位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46904" y="3063240"/>
            <a:ext cx="1312164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108960"/>
            <a:ext cx="16962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与武林之星业态高度相似，且其已于 2024.11 先行开园占位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88836" y="1737360"/>
            <a:ext cx="1952244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88836" y="1737360"/>
            <a:ext cx="1952244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2" name="Text 30"/>
          <p:cNvSpPr/>
          <p:nvPr/>
        </p:nvSpPr>
        <p:spPr>
          <a:xfrm>
            <a:off x="6688836" y="1901952"/>
            <a:ext cx="19522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C0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688836" y="2395728"/>
            <a:ext cx="19522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物理孤岛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780276" y="2761488"/>
            <a:ext cx="1769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3A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三面被切割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008876" y="3063240"/>
            <a:ext cx="1312164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16852" y="3108960"/>
            <a:ext cx="16962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铁路、上塘河与东新路三向切割，与城市界面存在明显断裂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8B3A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四重困境叠加，指向同一要害——“招不到商、聚不起人”。破局之钥不在关门做设计，而在区域网络中错位卡位。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96696" y="3291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现存问题诊断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6696" y="5669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DIAGNOSIS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锚点之失：音乐厅移址的双重启示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408176"/>
            <a:ext cx="502920" cy="3200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8691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和平片区 · 从孤岛地标到城市节点        02 / 06</a:t>
            </a:r>
            <a:endParaRPr lang="en-US" sz="800" dirty="0"/>
          </a:p>
        </p:txBody>
      </p:sp>
      <p:pic>
        <p:nvPicPr>
          <p:cNvPr id="9" name="Image 0" descr="/Users/peilinli/Desktop/Vibecoding/urban-renewal-report/照片/配图/和平片区/heping_factory_origin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600200"/>
            <a:ext cx="3657600" cy="2743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1600200"/>
            <a:ext cx="3657600" cy="2743200"/>
          </a:xfrm>
          <a:prstGeom prst="rect">
            <a:avLst/>
          </a:prstGeom>
          <a:ln w="9525">
            <a:solidFill>
              <a:srgbClr val="1A151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437997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· 原杭锅厂房本体：大跨度工业空间是片区最核心的遗产资产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480560" y="1600200"/>
            <a:ext cx="41605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1600200"/>
            <a:ext cx="73152" cy="1280160"/>
          </a:xfrm>
          <a:prstGeom prst="rect">
            <a:avLst/>
          </a:prstGeom>
          <a:solidFill>
            <a:srgbClr val="8A8278"/>
          </a:solidFill>
          <a:ln/>
        </p:spPr>
      </p:sp>
      <p:sp>
        <p:nvSpPr>
          <p:cNvPr id="14" name="Text 11"/>
          <p:cNvSpPr/>
          <p:nvPr/>
        </p:nvSpPr>
        <p:spPr>
          <a:xfrm>
            <a:off x="4681728" y="171907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启示一 · 卸下枷锁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681728" y="2029968"/>
            <a:ext cx="3758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音乐厅受众有限、时段封闭、声学约束锁死设计，本是精致孤岛。其移址反而解开了空间与业态的约束。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480560" y="3017520"/>
            <a:ext cx="4160520" cy="1325880"/>
          </a:xfrm>
          <a:prstGeom prst="rect">
            <a:avLst/>
          </a:prstGeom>
          <a:solidFill>
            <a:srgbClr val="1A1512"/>
          </a:solidFill>
          <a:ln/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480560" y="3017520"/>
            <a:ext cx="73152" cy="13258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8" name="Text 15"/>
          <p:cNvSpPr/>
          <p:nvPr/>
        </p:nvSpPr>
        <p:spPr>
          <a:xfrm>
            <a:off x="4681728" y="314553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启示二 · 暴露要害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681728" y="3474720"/>
            <a:ext cx="3758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当唯一的引流指望消失，“没人”这一根本问题第一次被赤裸暴露——这倒逼片区必须从依赖单点锚点，转向依托区域网络聚人。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96696" y="3291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现存问题诊断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6696" y="5669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DIAGNOSIS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SWOT 研判：优劣势与机会威胁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408176"/>
            <a:ext cx="502920" cy="3200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8691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和平片区 · 从孤岛地标到城市节点        02 / 06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691640"/>
            <a:ext cx="3995928" cy="1492758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691640"/>
            <a:ext cx="82296" cy="1492758"/>
          </a:xfrm>
          <a:prstGeom prst="rect">
            <a:avLst/>
          </a:prstGeom>
          <a:solidFill>
            <a:srgbClr val="7BA38E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" y="1801368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A3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优势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2376" y="2148840"/>
            <a:ext cx="3593592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53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公顷成规模工业遗存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53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大和平商圈“一心”官方定位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53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号线站 200m 的 TOD 潜力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45152" y="1691640"/>
            <a:ext cx="3995928" cy="1492758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45152" y="1691640"/>
            <a:ext cx="82296" cy="149275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4864608" y="1801368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 劣势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64608" y="2148840"/>
            <a:ext cx="3593592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53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缺流量腹地、商业洼地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53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运营主体待定、锚点已失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53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三面物理断点、界面割裂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330702"/>
            <a:ext cx="3995928" cy="1492758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330702"/>
            <a:ext cx="82296" cy="1492758"/>
          </a:xfrm>
          <a:prstGeom prst="rect">
            <a:avLst/>
          </a:prstGeom>
          <a:solidFill>
            <a:srgbClr val="4A8FC4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" y="3440430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8F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 机会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2376" y="3787902"/>
            <a:ext cx="3593592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53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轨道 + 嘉里城带来未来增量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53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官方“文化体验街区”背书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53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工业遗存文化叙事稀缺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45152" y="3330702"/>
            <a:ext cx="3995928" cy="1492758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45152" y="3330702"/>
            <a:ext cx="82296" cy="1492758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23" name="Text 21"/>
          <p:cNvSpPr/>
          <p:nvPr/>
        </p:nvSpPr>
        <p:spPr>
          <a:xfrm>
            <a:off x="4864608" y="3440430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威胁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64608" y="3787902"/>
            <a:ext cx="3593592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53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武林之星同质业态先行卡位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53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老龄社区消费力有限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53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国企考核周期与养成周期错配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96696" y="3291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现存问题诊断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6696" y="5669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DIAGNOSIS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竞合矩阵：与近邻的错位空间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408176"/>
            <a:ext cx="502920" cy="3200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8691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和平片区 · 从孤岛地标到城市节点        02 / 06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8138160" cy="621792"/>
          </a:xfrm>
          <a:prstGeom prst="rect">
            <a:avLst/>
          </a:prstGeom>
          <a:solidFill>
            <a:srgbClr val="1A1512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" y="1737360"/>
            <a:ext cx="1792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A9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42616" y="1737360"/>
            <a:ext cx="1243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A9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05656" y="1737360"/>
            <a:ext cx="2249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A9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业态核心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74536" y="1737360"/>
            <a:ext cx="1152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A9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开业状态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46136" y="1737360"/>
            <a:ext cx="6035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A9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与和平关系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359152"/>
            <a:ext cx="81381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" y="2359152"/>
            <a:ext cx="1792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武林之星博览中心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2642616" y="2359152"/>
            <a:ext cx="1243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会展 · 秀场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4105656" y="2359152"/>
            <a:ext cx="2249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大型展览、发布、产业活动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6574536" y="2359152"/>
            <a:ext cx="1152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2024.11 已开园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7946136" y="2359152"/>
            <a:ext cx="6035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同质近邻，需差异化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02920" y="2980944"/>
            <a:ext cx="8138160" cy="621792"/>
          </a:xfrm>
          <a:prstGeom prst="rect">
            <a:avLst/>
          </a:prstGeom>
          <a:solidFill>
            <a:srgbClr val="F8F6F2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" y="2980944"/>
            <a:ext cx="1792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嘉里城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2642616" y="2980944"/>
            <a:ext cx="1243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高端零售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4105656" y="2980944"/>
            <a:ext cx="2249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品牌购物、餐饮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6574536" y="2980944"/>
            <a:ext cx="1152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延期 2026 年中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7946136" y="2980944"/>
            <a:ext cx="6035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互补，导入日间消费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502920" y="3602736"/>
            <a:ext cx="8138160" cy="621792"/>
          </a:xfrm>
          <a:prstGeom prst="rect">
            <a:avLst/>
          </a:prstGeom>
          <a:solidFill>
            <a:srgbClr val="F3E4D8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602736"/>
            <a:ext cx="73152" cy="62179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" y="3602736"/>
            <a:ext cx="1792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8B3A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和平片区（本案）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2642616" y="3602736"/>
            <a:ext cx="1243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文化体验街区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105656" y="3602736"/>
            <a:ext cx="2249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文化体验 + 夜间经济 + 创意办公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6574536" y="3602736"/>
            <a:ext cx="1152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规划中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7946136" y="3602736"/>
            <a:ext cx="6035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错位卡位，做别人不做的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502920" y="436168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8B3A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矩阵启示：正面同质竞争没有胜算；唯有在业态、时段、规模上主动错位，占住“文化体验”这一近邻尚未坐实的生态位。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ilinli/Desktop/Vibecoding/urban-renewal-report/照片/配图/和平片区/tod_metro_gateway_par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0"/>
            <a:ext cx="420624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4" name="Shape 1"/>
          <p:cNvSpPr/>
          <p:nvPr/>
        </p:nvSpPr>
        <p:spPr>
          <a:xfrm>
            <a:off x="4937760" y="0"/>
            <a:ext cx="731520" cy="5143500"/>
          </a:xfrm>
          <a:prstGeom prst="rect">
            <a:avLst/>
          </a:prstGeom>
          <a:solidFill>
            <a:srgbClr val="1A1512">
              <a:alpha val="6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96012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2A24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0" dirty="0"/>
          </a:p>
        </p:txBody>
      </p:sp>
      <p:sp>
        <p:nvSpPr>
          <p:cNvPr id="6" name="Shape 3"/>
          <p:cNvSpPr/>
          <p:nvPr/>
        </p:nvSpPr>
        <p:spPr>
          <a:xfrm>
            <a:off x="502920" y="2286000"/>
            <a:ext cx="640080" cy="4572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STRATEGY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总体战略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02920" y="34290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确立总体战略：从孤立地标转向区域网络中的城市节点，以“一个定位判断 + 三条落地路径”实现差异化生存，占住官方既定的“文化体验街区”生态位。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ilinli/Desktop/Vibecoding/urban-renewal-report/照片/配图/和平片区/tod_metro_gateway_par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0"/>
            <a:ext cx="402336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394960" cy="5143500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4" name="Shape 1"/>
          <p:cNvSpPr/>
          <p:nvPr/>
        </p:nvSpPr>
        <p:spPr>
          <a:xfrm>
            <a:off x="5120640" y="0"/>
            <a:ext cx="731520" cy="5143500"/>
          </a:xfrm>
          <a:prstGeom prst="rect">
            <a:avLst/>
          </a:prstGeom>
          <a:solidFill>
            <a:srgbClr val="1A1512">
              <a:alpha val="6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OVERALL STRATEGY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7498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总体战略：从孤岛地标到城市节点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02920" y="1463040"/>
            <a:ext cx="4434840" cy="1417320"/>
          </a:xfrm>
          <a:prstGeom prst="rect">
            <a:avLst/>
          </a:prstGeom>
          <a:solidFill>
            <a:srgbClr val="2A2420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" y="1463040"/>
            <a:ext cx="73152" cy="14173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6"/>
          <p:cNvSpPr/>
          <p:nvPr/>
        </p:nvSpPr>
        <p:spPr>
          <a:xfrm>
            <a:off x="722376" y="1572768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对和平片区而言，“区域联动”不是愿景，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而是它在既定的大和平商圈里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8A9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招得到商、聚得起人的唯一出路。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3063240"/>
            <a:ext cx="4434840" cy="621792"/>
          </a:xfrm>
          <a:prstGeom prst="rect">
            <a:avLst/>
          </a:prstGeom>
          <a:solidFill>
            <a:srgbClr val="1F1A16"/>
          </a:solidFill>
          <a:ln w="9525">
            <a:solidFill>
              <a:srgbClr val="2A24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" y="306324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69848" y="31363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从地标到节点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69848" y="33741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不再孤立追求单体地标价值，而是把片区嵌入区域网络，成为客流汇集与再分配的城市节点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502920" y="3776472"/>
            <a:ext cx="4434840" cy="621792"/>
          </a:xfrm>
          <a:prstGeom prst="rect">
            <a:avLst/>
          </a:prstGeom>
          <a:solidFill>
            <a:srgbClr val="1F1A16"/>
          </a:solidFill>
          <a:ln w="9525">
            <a:solidFill>
              <a:srgbClr val="2A24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" y="3776472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069848" y="38496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从竞争到错位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069848" y="40873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不与近邻同质血拼，而以差异化供给占住“文化体验街区”生态位，做别人不做的那一块</a:t>
            </a:r>
            <a:endParaRPr lang="en-US" sz="8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96696" y="3291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总体战略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6696" y="5669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STRATEGY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定位判断：站位不必发明，官方已画好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408176"/>
            <a:ext cx="502920" cy="3200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8691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和平片区 · 从孤岛地标到城市节点        03 / 06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片区的战略定位无需另起炉灶——它已被上位规划双重锚定：既是大和平商圈“两核”之一，又是详细规划“一心一轴三区”中的那个“一心”。差异化方向亦有官方依据。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194560"/>
            <a:ext cx="2602992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194560"/>
            <a:ext cx="2602992" cy="457200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94560"/>
            <a:ext cx="2237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商圈尺度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761488"/>
            <a:ext cx="2237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A8F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两核两带六街八巷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85800" y="3236976"/>
            <a:ext cx="2237232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310128"/>
            <a:ext cx="2237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大和平商圈 434 亿投资、255 万方。“两核”= 和平广场地块 + 艮山门动车所上盖；片区即“两核”之一。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70504" y="2194560"/>
            <a:ext cx="2602992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70504" y="2194560"/>
            <a:ext cx="2602992" cy="457200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18" name="Text 16"/>
          <p:cNvSpPr/>
          <p:nvPr/>
        </p:nvSpPr>
        <p:spPr>
          <a:xfrm>
            <a:off x="3453384" y="2194560"/>
            <a:ext cx="2237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地块尺度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53384" y="2761488"/>
            <a:ext cx="2237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一心 · 一轴 · 三区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3453384" y="3236976"/>
            <a:ext cx="2237232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53384" y="3310128"/>
            <a:ext cx="2237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和平广场地块约 72.7 公顷：一心 = 大和平公共中心（即本片区）；一轴 = 东新路有机更新轴；三区 = 品质生活 / 文化体验 / 数智科创街区。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38088" y="2194560"/>
            <a:ext cx="2602992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8088" y="2194560"/>
            <a:ext cx="2602992" cy="457200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24" name="Text 22"/>
          <p:cNvSpPr/>
          <p:nvPr/>
        </p:nvSpPr>
        <p:spPr>
          <a:xfrm>
            <a:off x="6220968" y="2194560"/>
            <a:ext cx="2237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方向依据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20968" y="2761488"/>
            <a:ext cx="2237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BA3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官方已设“文化体验街区”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220968" y="3236976"/>
            <a:ext cx="2237232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20968" y="3310128"/>
            <a:ext cx="2237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“三区”中本就含“文化体验街区”——片区主打文化体验方向，并非另辟蹊径，而是坐实官方既定分工。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427939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8B3A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结论：真正需要回答的不是“要不要联动”（官方已定），而是“在这张已画好的网里，凭什么与身边的强邻不重样”。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96696" y="3291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总体战略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6696" y="5669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STRATEGY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落地路径：一个判断，三条落地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408176"/>
            <a:ext cx="502920" cy="3200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8691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和平片区 · 从孤岛地标到城市节点        03 / 06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在坐实“文化体验街区”定位的前提下，差异化生存靠三条真实可达（3km 内）的落地路径协同展开——连轨道引增量、连近邻做错位、连社区聚日常。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148840"/>
            <a:ext cx="2602992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148840"/>
            <a:ext cx="2602992" cy="54864"/>
          </a:xfrm>
          <a:prstGeom prst="rect">
            <a:avLst/>
          </a:prstGeom>
          <a:solidFill>
            <a:srgbClr val="4A8FC4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2276856"/>
            <a:ext cx="2273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C0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67512" y="2715768"/>
            <a:ext cx="2273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8F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连轨道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7512" y="3026664"/>
            <a:ext cx="227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引新增人流进来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67512" y="3319272"/>
            <a:ext cx="2273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5A53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号线站 200m 在建</a:t>
            </a:r>
            <a:endParaRPr lang="en-US" sz="86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5A53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叠加北核开发释放量</a:t>
            </a:r>
            <a:endParaRPr lang="en-US" sz="86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5A53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TOD 门户效应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612648" y="4050792"/>
            <a:ext cx="2383536" cy="457200"/>
          </a:xfrm>
          <a:prstGeom prst="rect">
            <a:avLst/>
          </a:prstGeom>
          <a:solidFill>
            <a:srgbClr val="F3E4D8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4050792"/>
            <a:ext cx="2200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i="1" dirty="0">
                <a:solidFill>
                  <a:srgbClr val="8B3A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但要清醒：红利尚未兑现，是三五年后的账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3270504" y="2148840"/>
            <a:ext cx="2602992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70504" y="2148840"/>
            <a:ext cx="2602992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3435096" y="2276856"/>
            <a:ext cx="2273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C0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435096" y="2715768"/>
            <a:ext cx="2273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连近邻组团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35096" y="3026664"/>
            <a:ext cx="227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用错位避开血拼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35096" y="3319272"/>
            <a:ext cx="2273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5A53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主轴：文化体验 + 夜间经济 + 创意办公</a:t>
            </a:r>
            <a:endParaRPr lang="en-US" sz="86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5A53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 / 秀作差异化业态保留</a:t>
            </a:r>
            <a:endParaRPr lang="en-US" sz="86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5A53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与武林之星错内容·时段·规模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3380232" y="4050792"/>
            <a:ext cx="2383536" cy="457200"/>
          </a:xfrm>
          <a:prstGeom prst="rect">
            <a:avLst/>
          </a:prstGeom>
          <a:solidFill>
            <a:srgbClr val="F3E4D8"/>
          </a:solidFill>
          <a:ln/>
        </p:spPr>
      </p:sp>
      <p:sp>
        <p:nvSpPr>
          <p:cNvPr id="25" name="Text 23"/>
          <p:cNvSpPr/>
          <p:nvPr/>
        </p:nvSpPr>
        <p:spPr>
          <a:xfrm>
            <a:off x="3471672" y="4050792"/>
            <a:ext cx="2200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i="1" dirty="0">
                <a:solidFill>
                  <a:srgbClr val="8B3A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形成“日间购物 / 白天看展 / 夜里泡文化”的时段错位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6038088" y="2148840"/>
            <a:ext cx="2602992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8088" y="2148840"/>
            <a:ext cx="2602992" cy="54864"/>
          </a:xfrm>
          <a:prstGeom prst="rect">
            <a:avLst/>
          </a:prstGeom>
          <a:solidFill>
            <a:srgbClr val="7BA38E"/>
          </a:solidFill>
          <a:ln/>
        </p:spPr>
      </p:sp>
      <p:sp>
        <p:nvSpPr>
          <p:cNvPr id="28" name="Text 26"/>
          <p:cNvSpPr/>
          <p:nvPr/>
        </p:nvSpPr>
        <p:spPr>
          <a:xfrm>
            <a:off x="6202680" y="2276856"/>
            <a:ext cx="2273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C0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202680" y="2715768"/>
            <a:ext cx="2273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A3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连社区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202680" y="3026664"/>
            <a:ext cx="227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把流失的人变回流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02680" y="3319272"/>
            <a:ext cx="2273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5A53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拆围墙 + 跨河步行桥 + 上塘河绿道</a:t>
            </a:r>
            <a:endParaRPr lang="en-US" sz="86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5A53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三处物理断点变城市接口</a:t>
            </a:r>
            <a:endParaRPr lang="en-US" sz="86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5A53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以“公共客厅”功能聚日常人流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6147816" y="4050792"/>
            <a:ext cx="2383536" cy="457200"/>
          </a:xfrm>
          <a:prstGeom prst="rect">
            <a:avLst/>
          </a:prstGeom>
          <a:solidFill>
            <a:srgbClr val="F3E4D8"/>
          </a:solidFill>
          <a:ln/>
        </p:spPr>
      </p:sp>
      <p:sp>
        <p:nvSpPr>
          <p:cNvPr id="33" name="Text 31"/>
          <p:cNvSpPr/>
          <p:nvPr/>
        </p:nvSpPr>
        <p:spPr>
          <a:xfrm>
            <a:off x="6239256" y="4050792"/>
            <a:ext cx="2200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i="1" dirty="0">
                <a:solidFill>
                  <a:srgbClr val="8B3A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把外溢白领与被忽略的老龄居民转为常态客流</a:t>
            </a:r>
            <a:endParaRPr lang="en-US" sz="8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96696" y="3291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总体战略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6696" y="5669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STRATEGY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落地一 · 连轨道：把增量客流引进来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408176"/>
            <a:ext cx="502920" cy="3200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8691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和平片区 · 从孤岛地标到城市节点        03 / 06</a:t>
            </a:r>
            <a:endParaRPr lang="en-US" sz="800" dirty="0"/>
          </a:p>
        </p:txBody>
      </p:sp>
      <p:pic>
        <p:nvPicPr>
          <p:cNvPr id="9" name="Image 0" descr="/Users/peilinli/Desktop/Vibecoding/urban-renewal-report/照片/配图/和平片区/tod_metro_gateway_par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600200"/>
            <a:ext cx="3520440" cy="2743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1600200"/>
            <a:ext cx="3520440" cy="2743200"/>
          </a:xfrm>
          <a:prstGeom prst="rect">
            <a:avLst/>
          </a:prstGeom>
          <a:ln w="9525">
            <a:solidFill>
              <a:srgbClr val="1A151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437997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· TOD 门户设想：轨道站点与片区之间以门户公园缝合，实现“出站即入园”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343400" y="1645920"/>
            <a:ext cx="42976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43400" y="1645920"/>
            <a:ext cx="73152" cy="786384"/>
          </a:xfrm>
          <a:prstGeom prst="rect">
            <a:avLst/>
          </a:prstGeom>
          <a:solidFill>
            <a:srgbClr val="4A8FC4"/>
          </a:solidFill>
          <a:ln/>
        </p:spPr>
      </p:sp>
      <p:sp>
        <p:nvSpPr>
          <p:cNvPr id="14" name="Text 11"/>
          <p:cNvSpPr/>
          <p:nvPr/>
        </p:nvSpPr>
        <p:spPr>
          <a:xfrm>
            <a:off x="4562856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近在咫尺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62856" y="1993392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号线和平会展中心站（定名“和平广场站”）距片区约 200 米，2024 年底主体封顶、2025 年盾构掘进，是最直接的门户抓手。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4343400" y="2542032"/>
            <a:ext cx="42976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43400" y="2542032"/>
            <a:ext cx="73152" cy="786384"/>
          </a:xfrm>
          <a:prstGeom prst="rect">
            <a:avLst/>
          </a:prstGeom>
          <a:solidFill>
            <a:srgbClr val="4A8FC4"/>
          </a:solidFill>
          <a:ln/>
        </p:spPr>
      </p:sp>
      <p:sp>
        <p:nvSpPr>
          <p:cNvPr id="18" name="Text 15"/>
          <p:cNvSpPr/>
          <p:nvPr/>
        </p:nvSpPr>
        <p:spPr>
          <a:xfrm>
            <a:off x="4562856" y="2633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叠加增量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62856" y="2889504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北核艮山门动车所上盖释放的开发量，与四线五站轨道服务叠加，构成片区最稳定的“未来增量客流”来源。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4343400" y="3438144"/>
            <a:ext cx="42976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343400" y="3438144"/>
            <a:ext cx="73152" cy="786384"/>
          </a:xfrm>
          <a:prstGeom prst="rect">
            <a:avLst/>
          </a:prstGeom>
          <a:solidFill>
            <a:srgbClr val="4A8FC4"/>
          </a:solidFill>
          <a:ln/>
        </p:spPr>
      </p:sp>
      <p:sp>
        <p:nvSpPr>
          <p:cNvPr id="22" name="Text 19"/>
          <p:cNvSpPr/>
          <p:nvPr/>
        </p:nvSpPr>
        <p:spPr>
          <a:xfrm>
            <a:off x="4562856" y="35295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门户缝合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562856" y="3785616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以门户公园、连续步行系统缝合站点与片区界面，实现客流“引得进、留得住、再分配”。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4343400" y="4279392"/>
            <a:ext cx="4297680" cy="384048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25" name="Text 22"/>
          <p:cNvSpPr/>
          <p:nvPr/>
        </p:nvSpPr>
        <p:spPr>
          <a:xfrm>
            <a:off x="4526280" y="42793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8A9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清醒判断：TOD 红利尚未兑现，是三五年后的账——不能作为近期招商的唯一依托。</a:t>
            </a:r>
            <a:endParaRPr lang="en-US" sz="9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96696" y="3291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总体战略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6696" y="5669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STRATEGY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落地二 · 连近邻组团：以差异化避开血拼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408176"/>
            <a:ext cx="502920" cy="3200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8691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和平片区 · 从孤岛地标到城市节点        03 / 06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627632"/>
            <a:ext cx="3657600" cy="512064"/>
          </a:xfrm>
          <a:prstGeom prst="rect">
            <a:avLst/>
          </a:prstGeom>
          <a:solidFill>
            <a:srgbClr val="2A242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733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武林之星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9293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会展 · 秀场（已开园）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983480" y="1627632"/>
            <a:ext cx="3657600" cy="512064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13" name="Shape 11"/>
          <p:cNvSpPr/>
          <p:nvPr/>
        </p:nvSpPr>
        <p:spPr>
          <a:xfrm>
            <a:off x="4983480" y="1627632"/>
            <a:ext cx="36576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5166360" y="16733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和平片区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66360" y="19293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D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文化体验 + 夜间经济（本案）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60520" y="2231136"/>
            <a:ext cx="822960" cy="420624"/>
          </a:xfrm>
          <a:prstGeom prst="ellipse">
            <a:avLst/>
          </a:prstGeom>
          <a:solidFill>
            <a:srgbClr val="F8F6F2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0520" y="22311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3A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212848"/>
            <a:ext cx="3657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" y="2212848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大型展览与产业发布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83480" y="2212848"/>
            <a:ext cx="3657600" cy="457200"/>
          </a:xfrm>
          <a:prstGeom prst="rect">
            <a:avLst/>
          </a:prstGeom>
          <a:solidFill>
            <a:srgbClr val="F7ECE2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9784" y="2212848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3A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小型策展 · 沉浸式演艺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60520" y="2743200"/>
            <a:ext cx="822960" cy="420624"/>
          </a:xfrm>
          <a:prstGeom prst="ellipse">
            <a:avLst/>
          </a:prstGeom>
          <a:solidFill>
            <a:srgbClr val="F8F6F2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2743200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3A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时段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3657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2724912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白天为主、正规格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83480" y="2724912"/>
            <a:ext cx="3657600" cy="457200"/>
          </a:xfrm>
          <a:prstGeom prst="rect">
            <a:avLst/>
          </a:prstGeom>
          <a:solidFill>
            <a:srgbClr val="F7ECE2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9784" y="2724912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3A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夜场为主、错时段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60520" y="3255264"/>
            <a:ext cx="822960" cy="420624"/>
          </a:xfrm>
          <a:prstGeom prst="ellipse">
            <a:avLst/>
          </a:prstGeom>
          <a:solidFill>
            <a:srgbClr val="F8F6F2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0520" y="325526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3A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3236976"/>
            <a:ext cx="3657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" y="3236976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万㎡ 大体量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83480" y="3236976"/>
            <a:ext cx="3657600" cy="457200"/>
          </a:xfrm>
          <a:prstGeom prst="rect">
            <a:avLst/>
          </a:prstGeom>
          <a:solidFill>
            <a:srgbClr val="F7ECE2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9784" y="3236976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3A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中小尺度、灵活可变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160520" y="3767328"/>
            <a:ext cx="822960" cy="420624"/>
          </a:xfrm>
          <a:prstGeom prst="ellipse">
            <a:avLst/>
          </a:prstGeom>
          <a:solidFill>
            <a:srgbClr val="F8F6F2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60520" y="376732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3A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3749040"/>
            <a:ext cx="3657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" y="3749040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城市级会展目的地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983480" y="3749040"/>
            <a:ext cx="3657600" cy="457200"/>
          </a:xfrm>
          <a:prstGeom prst="rect">
            <a:avLst/>
          </a:prstGeom>
          <a:solidFill>
            <a:srgbClr val="F7ECE2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9784" y="3749040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3A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在地文化体验街区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02920" y="4315968"/>
            <a:ext cx="8138160" cy="420624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4315968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A9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时段错位闭环：日间去嘉里城购物 · 白天去武林之星看大展 · 夜里来和平片区泡文化与演艺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96696" y="3291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总体战略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6696" y="5669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STRATEGY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落地三 · 连社区：把断点变成接口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408176"/>
            <a:ext cx="502920" cy="3200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8691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和平片区 · 从孤岛地标到城市节点        03 / 06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片区被铁路、上塘河、东新路三向切割而成孤岛。连社区的关键，是把这三处“物理断点”逐一改造为“城市接口”，让流失的人成为回流的日常人流。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148840"/>
            <a:ext cx="2602992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548384" y="2331720"/>
            <a:ext cx="512064" cy="512064"/>
          </a:xfrm>
          <a:prstGeom prst="ellipse">
            <a:avLst/>
          </a:prstGeom>
          <a:solidFill>
            <a:srgbClr val="7BA38E"/>
          </a:solidFill>
          <a:ln/>
        </p:spPr>
      </p:sp>
      <p:sp>
        <p:nvSpPr>
          <p:cNvPr id="12" name="Text 10"/>
          <p:cNvSpPr/>
          <p:nvPr/>
        </p:nvSpPr>
        <p:spPr>
          <a:xfrm>
            <a:off x="1548384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920" y="2898648"/>
            <a:ext cx="260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铁路断点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172968"/>
            <a:ext cx="2602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A3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拆围墙 · 开界面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" y="3429000"/>
            <a:ext cx="2310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打开封闭厂界，将消极边界改造为可达、可视的城市开放界面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3270504" y="2148840"/>
            <a:ext cx="2602992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15968" y="2331720"/>
            <a:ext cx="512064" cy="512064"/>
          </a:xfrm>
          <a:prstGeom prst="ellipse">
            <a:avLst/>
          </a:prstGeom>
          <a:solidFill>
            <a:srgbClr val="7BA38E"/>
          </a:solidFill>
          <a:ln/>
        </p:spPr>
      </p:sp>
      <p:sp>
        <p:nvSpPr>
          <p:cNvPr id="18" name="Text 16"/>
          <p:cNvSpPr/>
          <p:nvPr/>
        </p:nvSpPr>
        <p:spPr>
          <a:xfrm>
            <a:off x="4315968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270504" y="2898648"/>
            <a:ext cx="260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上塘河断点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70504" y="3172968"/>
            <a:ext cx="2602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A3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跨河步行桥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16808" y="3429000"/>
            <a:ext cx="2310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以步行桥连接对岸社区，缝合被水系割裂的两侧步行网络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6038088" y="2148840"/>
            <a:ext cx="2602992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083552" y="2331720"/>
            <a:ext cx="512064" cy="512064"/>
          </a:xfrm>
          <a:prstGeom prst="ellipse">
            <a:avLst/>
          </a:prstGeom>
          <a:solidFill>
            <a:srgbClr val="7BA38E"/>
          </a:solidFill>
          <a:ln/>
        </p:spPr>
      </p:sp>
      <p:sp>
        <p:nvSpPr>
          <p:cNvPr id="24" name="Text 22"/>
          <p:cNvSpPr/>
          <p:nvPr/>
        </p:nvSpPr>
        <p:spPr>
          <a:xfrm>
            <a:off x="7083552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038088" y="2898648"/>
            <a:ext cx="260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东新路断点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38088" y="3172968"/>
            <a:ext cx="2602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A3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上塘河绿道 + 慢行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84392" y="3429000"/>
            <a:ext cx="2310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借绿道与慢行系统削弱 50m 宽干道阻隔，串联片区与街道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502920" y="4160520"/>
            <a:ext cx="8138160" cy="457200"/>
          </a:xfrm>
          <a:prstGeom prst="rect">
            <a:avLst/>
          </a:prstGeom>
          <a:solidFill>
            <a:srgbClr val="F3E4D8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4160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8B3A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三处接口共同织出“公共客厅”——把外溢的年轻白领与被忽略的老龄居民，转化为片区的日常人流。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ilinli/Desktop/Vibecoding/urban-renewal-report/照片/配图/和平片区/heping_factory_origin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0"/>
            <a:ext cx="420624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4" name="Shape 1"/>
          <p:cNvSpPr/>
          <p:nvPr/>
        </p:nvSpPr>
        <p:spPr>
          <a:xfrm>
            <a:off x="4937760" y="0"/>
            <a:ext cx="731520" cy="5143500"/>
          </a:xfrm>
          <a:prstGeom prst="rect">
            <a:avLst/>
          </a:prstGeom>
          <a:solidFill>
            <a:srgbClr val="1A1512">
              <a:alpha val="6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96012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2A24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0" dirty="0"/>
          </a:p>
        </p:txBody>
      </p:sp>
      <p:sp>
        <p:nvSpPr>
          <p:cNvPr id="6" name="Shape 3"/>
          <p:cNvSpPr/>
          <p:nvPr/>
        </p:nvSpPr>
        <p:spPr>
          <a:xfrm>
            <a:off x="502920" y="2286000"/>
            <a:ext cx="640080" cy="4572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STRATEGY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空间策略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02920" y="34290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在明确战略之后回答三个空间之问：留什么、拆什么、怎么改——以存量为体、织补为用，让遗产成为体验的载体。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96696" y="3291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空间策略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6696" y="5669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STRATEGY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空间策略：三个基本之问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408176"/>
            <a:ext cx="502920" cy="3200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8691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和平片区 · 从孤岛地标到城市节点        04 / 06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2602992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828800"/>
            <a:ext cx="2602992" cy="5486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103120"/>
            <a:ext cx="2602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留什么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2697480"/>
            <a:ext cx="2602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价值分级留存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3063240"/>
            <a:ext cx="1871472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3154680"/>
            <a:ext cx="2273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对工业遗存分级评估，核心构筑物应保尽保，一般建筑择优改造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70504" y="1828800"/>
            <a:ext cx="2602992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70504" y="1828800"/>
            <a:ext cx="2602992" cy="5486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7" name="Text 15"/>
          <p:cNvSpPr/>
          <p:nvPr/>
        </p:nvSpPr>
        <p:spPr>
          <a:xfrm>
            <a:off x="3270504" y="2103120"/>
            <a:ext cx="2602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拆什么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270504" y="2697480"/>
            <a:ext cx="2602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腾挪低效空间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36264" y="3063240"/>
            <a:ext cx="1871472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35096" y="3154680"/>
            <a:ext cx="2273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拆除低价值加建与危房，释放公共空间与新建弹性容量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8088" y="1828800"/>
            <a:ext cx="2602992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8088" y="1828800"/>
            <a:ext cx="2602992" cy="5486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23" name="Text 21"/>
          <p:cNvSpPr/>
          <p:nvPr/>
        </p:nvSpPr>
        <p:spPr>
          <a:xfrm>
            <a:off x="6038088" y="2103120"/>
            <a:ext cx="2602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怎么改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038088" y="2697480"/>
            <a:ext cx="2602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轻介入织补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3848" y="3063240"/>
            <a:ext cx="1871472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02680" y="3154680"/>
            <a:ext cx="2273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以轻介入方式织补功能与界面，保留工业质感的同时植入当代需求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96696" y="3291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空间策略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6696" y="5669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STRATEGY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建筑分级：应保尽保，择优改造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408176"/>
            <a:ext cx="502920" cy="3200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8691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和平片区 · 从孤岛地标到城市节点        04 / 06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一级 · 核心保护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1984248"/>
            <a:ext cx="5212080" cy="256032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11" name="Shape 9"/>
          <p:cNvSpPr/>
          <p:nvPr/>
        </p:nvSpPr>
        <p:spPr>
          <a:xfrm>
            <a:off x="2331720" y="1984248"/>
            <a:ext cx="5212080" cy="25603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7635240" y="182880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大跨厂房、标志构筑物 —— 原真保留，最小干预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252374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二级 · 保护利用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31720" y="2679192"/>
            <a:ext cx="5212080" cy="256032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16" name="Shape 14"/>
          <p:cNvSpPr/>
          <p:nvPr/>
        </p:nvSpPr>
        <p:spPr>
          <a:xfrm>
            <a:off x="2331720" y="2679192"/>
            <a:ext cx="3648456" cy="256032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7" name="Text 15"/>
          <p:cNvSpPr/>
          <p:nvPr/>
        </p:nvSpPr>
        <p:spPr>
          <a:xfrm>
            <a:off x="7635240" y="252374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2505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结构良好的车间 —— 保留主体，功能置换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32186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 · 改造更新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31720" y="3374136"/>
            <a:ext cx="5212080" cy="256032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21" name="Shape 19"/>
          <p:cNvSpPr/>
          <p:nvPr/>
        </p:nvSpPr>
        <p:spPr>
          <a:xfrm>
            <a:off x="2331720" y="3374136"/>
            <a:ext cx="2345436" cy="256032"/>
          </a:xfrm>
          <a:prstGeom prst="rect">
            <a:avLst/>
          </a:prstGeom>
          <a:solidFill>
            <a:srgbClr val="7BA38E"/>
          </a:solidFill>
          <a:ln/>
        </p:spPr>
      </p:sp>
      <p:sp>
        <p:nvSpPr>
          <p:cNvPr id="22" name="Text 20"/>
          <p:cNvSpPr/>
          <p:nvPr/>
        </p:nvSpPr>
        <p:spPr>
          <a:xfrm>
            <a:off x="7635240" y="321868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A3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77440" y="3200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一般建筑 —— 立面织补，空间重组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391363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四级 · 拆除新建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331720" y="4069080"/>
            <a:ext cx="5212080" cy="256032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26" name="Shape 24"/>
          <p:cNvSpPr/>
          <p:nvPr/>
        </p:nvSpPr>
        <p:spPr>
          <a:xfrm>
            <a:off x="2331720" y="4069080"/>
            <a:ext cx="1042416" cy="256032"/>
          </a:xfrm>
          <a:prstGeom prst="rect">
            <a:avLst/>
          </a:prstGeom>
          <a:solidFill>
            <a:srgbClr val="8A8278"/>
          </a:solidFill>
          <a:ln/>
        </p:spPr>
      </p:sp>
      <p:sp>
        <p:nvSpPr>
          <p:cNvPr id="27" name="Text 25"/>
          <p:cNvSpPr/>
          <p:nvPr/>
        </p:nvSpPr>
        <p:spPr>
          <a:xfrm>
            <a:off x="7635240" y="391363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77440" y="38953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低价值加建、危房 —— 拆除腾退，释放容量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465429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8B3A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保留率示意 · 分级越高、干预越小——让工业遗产的真实性成为片区不可复制的体验资产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96696" y="3291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空间策略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6696" y="5669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STRATEGY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留什么：让工业遗产成为体验载体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408176"/>
            <a:ext cx="502920" cy="3200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8691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和平片区 · 从孤岛地标到城市节点        04 / 06</a:t>
            </a:r>
            <a:endParaRPr lang="en-US" sz="800" dirty="0"/>
          </a:p>
        </p:txBody>
      </p:sp>
      <p:pic>
        <p:nvPicPr>
          <p:cNvPr id="9" name="Image 0" descr="/Users/peilinli/Desktop/Vibecoding/urban-renewal-report/照片/配图/和平片区/daping_forum_stag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645920"/>
            <a:ext cx="3840480" cy="2697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1645920"/>
            <a:ext cx="3840480" cy="2697480"/>
          </a:xfrm>
          <a:prstGeom prst="rect">
            <a:avLst/>
          </a:prstGeom>
          <a:ln w="9525">
            <a:solidFill>
              <a:srgbClr val="1A151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43799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· 大跨厂房转化为论坛与演艺舞台：工业尺度天然适配大型文化活动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63440" y="1691640"/>
            <a:ext cx="3977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大跨度厂房：适配展览、演艺、论坛等大空间文化活动</a:t>
            </a:r>
            <a:endParaRPr lang="en-US" sz="10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锯齿形屋架与桁架：保留标志性工业剪影与顶光</a:t>
            </a:r>
            <a:endParaRPr lang="en-US" sz="10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管廊、烟囱、构筑物：作为场所记忆锚点与打卡意象</a:t>
            </a:r>
            <a:endParaRPr lang="en-US" sz="10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原始材质肌理：红砖、混凝土、钢构的真实质感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96696" y="3291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空间策略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6696" y="5669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STRATEGY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怎么改：轻介入织补，缝合城市界面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408176"/>
            <a:ext cx="502920" cy="3200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8691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和平片区 · 从孤岛地标到城市节点        04 / 06</a:t>
            </a:r>
            <a:endParaRPr lang="en-US" sz="800" dirty="0"/>
          </a:p>
        </p:txBody>
      </p:sp>
      <p:pic>
        <p:nvPicPr>
          <p:cNvPr id="9" name="Image 0" descr="/Users/peilinli/Desktop/Vibecoding/urban-renewal-report/照片/配图/和平片区/heping_outdoor_festiv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645920"/>
            <a:ext cx="3840480" cy="2697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1645920"/>
            <a:ext cx="3840480" cy="2697480"/>
          </a:xfrm>
          <a:prstGeom prst="rect">
            <a:avLst/>
          </a:prstGeom>
          <a:ln w="9525">
            <a:solidFill>
              <a:srgbClr val="1A151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43799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· 夜间户外文化活动：以轻介入的公共空间激活工业场地的夜经济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63440" y="1691640"/>
            <a:ext cx="3977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打开封闭厂界，重塑连续可达的城市步行界面</a:t>
            </a:r>
            <a:endParaRPr lang="en-US" sz="10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植入连廊、平台与庭院，织补人的活动网络</a:t>
            </a:r>
            <a:endParaRPr lang="en-US" sz="10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以夜间照明与户外场景激活夜经济时段</a:t>
            </a:r>
            <a:endParaRPr lang="en-US" sz="10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预留弹性容量，适配文化、办公、社群的混合使用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ilinli/Desktop/Vibecoding/urban-renewal-report/照片/配图/和平片区/tod_warehouse_atriu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0"/>
            <a:ext cx="420624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4" name="Shape 1"/>
          <p:cNvSpPr/>
          <p:nvPr/>
        </p:nvSpPr>
        <p:spPr>
          <a:xfrm>
            <a:off x="4937760" y="0"/>
            <a:ext cx="731520" cy="5143500"/>
          </a:xfrm>
          <a:prstGeom prst="rect">
            <a:avLst/>
          </a:prstGeom>
          <a:solidFill>
            <a:srgbClr val="1A1512">
              <a:alpha val="6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96012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2A24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3000" dirty="0"/>
          </a:p>
        </p:txBody>
      </p:sp>
      <p:sp>
        <p:nvSpPr>
          <p:cNvPr id="6" name="Shape 3"/>
          <p:cNvSpPr/>
          <p:nvPr/>
        </p:nvSpPr>
        <p:spPr>
          <a:xfrm>
            <a:off x="502920" y="2286000"/>
            <a:ext cx="640080" cy="4572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LOOP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运营策略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02920" y="34290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空间只是容器，能否养活取决于运营：构建“引流—留人—自持”的闭环，并借鉴 LOFT49 的多功能人流互导方法、规避其易建难养之坑。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96696" y="3291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运营策略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6696" y="5669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LOOP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运营闭环：引流—留人—自持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408176"/>
            <a:ext cx="502920" cy="3200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8691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和平片区 · 从孤岛地标到城市节点        05 / 06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23317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920240"/>
            <a:ext cx="2331720" cy="54864"/>
          </a:xfrm>
          <a:prstGeom prst="rect">
            <a:avLst/>
          </a:prstGeom>
          <a:solidFill>
            <a:srgbClr val="4A8FC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1762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8F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引流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7512" y="2743200"/>
            <a:ext cx="200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以文化活动与轨道门户导入客流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0" y="1920240"/>
            <a:ext cx="5715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406140" y="1920240"/>
            <a:ext cx="23317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06140" y="1920240"/>
            <a:ext cx="233172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3406140" y="21762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留人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70732" y="2743200"/>
            <a:ext cx="200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以复合业态与体验延长停留时长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37860" y="1920240"/>
            <a:ext cx="5715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309360" y="1920240"/>
            <a:ext cx="23317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1920240"/>
            <a:ext cx="2331720" cy="54864"/>
          </a:xfrm>
          <a:prstGeom prst="rect">
            <a:avLst/>
          </a:prstGeom>
          <a:solidFill>
            <a:srgbClr val="7BA38E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21762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A3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自持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73952" y="2743200"/>
            <a:ext cx="200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以内容运营与自持物业穿越周期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749040"/>
            <a:ext cx="8138160" cy="822960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" y="3749040"/>
            <a:ext cx="73152" cy="82296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25" name="Text 23"/>
          <p:cNvSpPr/>
          <p:nvPr/>
        </p:nvSpPr>
        <p:spPr>
          <a:xfrm>
            <a:off x="722376" y="3749040"/>
            <a:ext cx="7735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方法参照 · 非导流：LOFT49 在北 3.5km、与本片区无物理客流关系，仅借鉴其“多功能人流互导”逻辑并规避“过度商业化、遗产稀释、易建难养”之坑。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96696" y="3291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运营策略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6696" y="5669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LOOP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功能落位：文化体验为核的复合业态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408176"/>
            <a:ext cx="502920" cy="3200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8691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和平片区 · 从孤岛地标到城市节点        05 / 06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1931670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737360"/>
            <a:ext cx="17487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文化体验（核）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304288"/>
            <a:ext cx="193167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304288"/>
            <a:ext cx="54864" cy="5120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" y="2304288"/>
            <a:ext cx="16939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小型策展空间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907792"/>
            <a:ext cx="193167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907792"/>
            <a:ext cx="54864" cy="5120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" y="2907792"/>
            <a:ext cx="16939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沉浸式演艺剧场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511296"/>
            <a:ext cx="193167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511296"/>
            <a:ext cx="54864" cy="5120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" y="3511296"/>
            <a:ext cx="16939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在地文化市集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71750" y="1737360"/>
            <a:ext cx="1931670" cy="45720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21" name="Text 19"/>
          <p:cNvSpPr/>
          <p:nvPr/>
        </p:nvSpPr>
        <p:spPr>
          <a:xfrm>
            <a:off x="2663190" y="1737360"/>
            <a:ext cx="17487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夜间经济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71750" y="2304288"/>
            <a:ext cx="193167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71750" y="2304288"/>
            <a:ext cx="54864" cy="51206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24" name="Text 22"/>
          <p:cNvSpPr/>
          <p:nvPr/>
        </p:nvSpPr>
        <p:spPr>
          <a:xfrm>
            <a:off x="2718054" y="2304288"/>
            <a:ext cx="16939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夜场演出与展演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71750" y="2907792"/>
            <a:ext cx="193167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71750" y="2907792"/>
            <a:ext cx="54864" cy="51206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27" name="Text 25"/>
          <p:cNvSpPr/>
          <p:nvPr/>
        </p:nvSpPr>
        <p:spPr>
          <a:xfrm>
            <a:off x="2718054" y="2907792"/>
            <a:ext cx="16939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特色餐饮酒吧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71750" y="3511296"/>
            <a:ext cx="193167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71750" y="3511296"/>
            <a:ext cx="54864" cy="51206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0" name="Text 28"/>
          <p:cNvSpPr/>
          <p:nvPr/>
        </p:nvSpPr>
        <p:spPr>
          <a:xfrm>
            <a:off x="2718054" y="3511296"/>
            <a:ext cx="16939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户外夜市场景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40580" y="1737360"/>
            <a:ext cx="1931670" cy="457200"/>
          </a:xfrm>
          <a:prstGeom prst="rect">
            <a:avLst/>
          </a:prstGeom>
          <a:solidFill>
            <a:srgbClr val="7BA38E"/>
          </a:solidFill>
          <a:ln/>
        </p:spPr>
      </p:sp>
      <p:sp>
        <p:nvSpPr>
          <p:cNvPr id="32" name="Text 30"/>
          <p:cNvSpPr/>
          <p:nvPr/>
        </p:nvSpPr>
        <p:spPr>
          <a:xfrm>
            <a:off x="4732020" y="1737360"/>
            <a:ext cx="17487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创意办公社区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40580" y="2304288"/>
            <a:ext cx="193167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40580" y="2304288"/>
            <a:ext cx="54864" cy="512064"/>
          </a:xfrm>
          <a:prstGeom prst="rect">
            <a:avLst/>
          </a:prstGeom>
          <a:solidFill>
            <a:srgbClr val="7BA38E"/>
          </a:solidFill>
          <a:ln/>
        </p:spPr>
      </p:sp>
      <p:sp>
        <p:nvSpPr>
          <p:cNvPr id="35" name="Text 33"/>
          <p:cNvSpPr/>
          <p:nvPr/>
        </p:nvSpPr>
        <p:spPr>
          <a:xfrm>
            <a:off x="4786884" y="2304288"/>
            <a:ext cx="16939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创意工作室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40580" y="2907792"/>
            <a:ext cx="193167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40580" y="2907792"/>
            <a:ext cx="54864" cy="512064"/>
          </a:xfrm>
          <a:prstGeom prst="rect">
            <a:avLst/>
          </a:prstGeom>
          <a:solidFill>
            <a:srgbClr val="7BA38E"/>
          </a:solidFill>
          <a:ln/>
        </p:spPr>
      </p:sp>
      <p:sp>
        <p:nvSpPr>
          <p:cNvPr id="38" name="Text 36"/>
          <p:cNvSpPr/>
          <p:nvPr/>
        </p:nvSpPr>
        <p:spPr>
          <a:xfrm>
            <a:off x="4786884" y="2907792"/>
            <a:ext cx="16939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共享办公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40580" y="3511296"/>
            <a:ext cx="193167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40580" y="3511296"/>
            <a:ext cx="54864" cy="512064"/>
          </a:xfrm>
          <a:prstGeom prst="rect">
            <a:avLst/>
          </a:prstGeom>
          <a:solidFill>
            <a:srgbClr val="7BA38E"/>
          </a:solidFill>
          <a:ln/>
        </p:spPr>
      </p:sp>
      <p:sp>
        <p:nvSpPr>
          <p:cNvPr id="41" name="Text 39"/>
          <p:cNvSpPr/>
          <p:nvPr/>
        </p:nvSpPr>
        <p:spPr>
          <a:xfrm>
            <a:off x="4786884" y="3511296"/>
            <a:ext cx="16939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路演孵化空间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709410" y="1737360"/>
            <a:ext cx="1931670" cy="457200"/>
          </a:xfrm>
          <a:prstGeom prst="rect">
            <a:avLst/>
          </a:prstGeom>
          <a:solidFill>
            <a:srgbClr val="4A8FC4"/>
          </a:solidFill>
          <a:ln/>
        </p:spPr>
      </p:sp>
      <p:sp>
        <p:nvSpPr>
          <p:cNvPr id="43" name="Text 41"/>
          <p:cNvSpPr/>
          <p:nvPr/>
        </p:nvSpPr>
        <p:spPr>
          <a:xfrm>
            <a:off x="6800850" y="1737360"/>
            <a:ext cx="17487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社区公共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709410" y="2304288"/>
            <a:ext cx="193167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09410" y="2304288"/>
            <a:ext cx="54864" cy="512064"/>
          </a:xfrm>
          <a:prstGeom prst="rect">
            <a:avLst/>
          </a:prstGeom>
          <a:solidFill>
            <a:srgbClr val="4A8FC4"/>
          </a:solidFill>
          <a:ln/>
        </p:spPr>
      </p:sp>
      <p:sp>
        <p:nvSpPr>
          <p:cNvPr id="46" name="Text 44"/>
          <p:cNvSpPr/>
          <p:nvPr/>
        </p:nvSpPr>
        <p:spPr>
          <a:xfrm>
            <a:off x="6855714" y="2304288"/>
            <a:ext cx="16939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公共客厅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709410" y="2907792"/>
            <a:ext cx="193167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09410" y="2907792"/>
            <a:ext cx="54864" cy="512064"/>
          </a:xfrm>
          <a:prstGeom prst="rect">
            <a:avLst/>
          </a:prstGeom>
          <a:solidFill>
            <a:srgbClr val="4A8FC4"/>
          </a:solidFill>
          <a:ln/>
        </p:spPr>
      </p:sp>
      <p:sp>
        <p:nvSpPr>
          <p:cNvPr id="49" name="Text 47"/>
          <p:cNvSpPr/>
          <p:nvPr/>
        </p:nvSpPr>
        <p:spPr>
          <a:xfrm>
            <a:off x="6855714" y="2907792"/>
            <a:ext cx="16939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全民健身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709410" y="3511296"/>
            <a:ext cx="193167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09410" y="3511296"/>
            <a:ext cx="54864" cy="512064"/>
          </a:xfrm>
          <a:prstGeom prst="rect">
            <a:avLst/>
          </a:prstGeom>
          <a:solidFill>
            <a:srgbClr val="4A8FC4"/>
          </a:solidFill>
          <a:ln/>
        </p:spPr>
      </p:sp>
      <p:sp>
        <p:nvSpPr>
          <p:cNvPr id="52" name="Text 50"/>
          <p:cNvSpPr/>
          <p:nvPr/>
        </p:nvSpPr>
        <p:spPr>
          <a:xfrm>
            <a:off x="6855714" y="3511296"/>
            <a:ext cx="16939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亲子与银发服务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02920" y="42976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以“文化体验”为核心生态位，向夜间经济、创意办公与社区公共延展，形成错位于近邻的复合业态组合。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96696" y="3291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运营策略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6696" y="5669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LOOP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引流：以内容与门户导入客流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408176"/>
            <a:ext cx="502920" cy="3200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8691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和平片区 · 从孤岛地标到城市节点        05 / 06</a:t>
            </a:r>
            <a:endParaRPr lang="en-US" sz="800" dirty="0"/>
          </a:p>
        </p:txBody>
      </p:sp>
      <p:pic>
        <p:nvPicPr>
          <p:cNvPr id="9" name="Image 0" descr="/Users/peilinli/Desktop/Vibecoding/urban-renewal-report/照片/配图/和平片区/heping_outdoor_festiv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645920"/>
            <a:ext cx="3840480" cy="2697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1645920"/>
            <a:ext cx="3840480" cy="2697480"/>
          </a:xfrm>
          <a:prstGeom prst="rect">
            <a:avLst/>
          </a:prstGeom>
          <a:ln w="9525">
            <a:solidFill>
              <a:srgbClr val="1A151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43799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· 品牌文化活动是最有效的引流入口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63440" y="1691640"/>
            <a:ext cx="3977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以品牌文化 IP 与节庆活动制造话题与首次到访</a:t>
            </a:r>
            <a:endParaRPr lang="en-US" sz="10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 15 号线门户与慢行系统降低到达成本</a:t>
            </a:r>
            <a:endParaRPr lang="en-US" sz="10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联动近邻组团形成“看展—购物—夜生活”动线</a:t>
            </a:r>
            <a:endParaRPr lang="en-US" sz="10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A2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以社群运营沉淀私域流量、提升复访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96696" y="3291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运营策略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6696" y="5669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LOOP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自持：以内容运营穿越周期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408176"/>
            <a:ext cx="502920" cy="3200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8691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和平片区 · 从孤岛地标到城市节点        05 / 06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783080"/>
            <a:ext cx="8138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783080"/>
            <a:ext cx="73152" cy="566928"/>
          </a:xfrm>
          <a:prstGeom prst="rect">
            <a:avLst/>
          </a:prstGeom>
          <a:solidFill>
            <a:srgbClr val="7BA38E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" y="17830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自持物业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14600" y="178308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核心空间以自持为主，避免短期散售稀释运营主导权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459736"/>
            <a:ext cx="8138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459736"/>
            <a:ext cx="73152" cy="566928"/>
          </a:xfrm>
          <a:prstGeom prst="rect">
            <a:avLst/>
          </a:prstGeom>
          <a:solidFill>
            <a:srgbClr val="7BA38E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245973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内容驱动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4600" y="2459736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以专业内容团队持续运营，让空间价值随内容成长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136392"/>
            <a:ext cx="8138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136392"/>
            <a:ext cx="73152" cy="566928"/>
          </a:xfrm>
          <a:prstGeom prst="rect">
            <a:avLst/>
          </a:prstGeom>
          <a:solidFill>
            <a:srgbClr val="7BA38E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" y="313639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弹性招商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14600" y="31363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分期分批、动态调整，匹配片区养成节奏而非一次填满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813048"/>
            <a:ext cx="8138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813048"/>
            <a:ext cx="73152" cy="566928"/>
          </a:xfrm>
          <a:prstGeom prst="rect">
            <a:avLst/>
          </a:prstGeom>
          <a:solidFill>
            <a:srgbClr val="7BA38E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" y="38130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穿越周期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14600" y="3813048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以稳定现金流业态托底，兼顾国企考核与园区养成的时间差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ilinli/Desktop/Vibecoding/urban-renewal-report/照片/配图/和平片区/industrial_in_cit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0"/>
            <a:ext cx="420624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4" name="Shape 1"/>
          <p:cNvSpPr/>
          <p:nvPr/>
        </p:nvSpPr>
        <p:spPr>
          <a:xfrm>
            <a:off x="4937760" y="0"/>
            <a:ext cx="731520" cy="5143500"/>
          </a:xfrm>
          <a:prstGeom prst="rect">
            <a:avLst/>
          </a:prstGeom>
          <a:solidFill>
            <a:srgbClr val="1A1512">
              <a:alpha val="6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96012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2A24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3000" dirty="0"/>
          </a:p>
        </p:txBody>
      </p:sp>
      <p:sp>
        <p:nvSpPr>
          <p:cNvPr id="6" name="Shape 3"/>
          <p:cNvSpPr/>
          <p:nvPr/>
        </p:nvSpPr>
        <p:spPr>
          <a:xfrm>
            <a:off x="502920" y="2286000"/>
            <a:ext cx="640080" cy="4572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实施要点与展望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02920" y="34290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从战略到落地，明确分期时序与关键抓手：以可实施、可运营、可持续为准绳，推动片区从孤岛地标走向城市节点。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96696" y="3291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实施要点与展望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6696" y="5669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实施时序：三期滚动、以养定建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408176"/>
            <a:ext cx="502920" cy="3200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8691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和平片区 · 从孤岛地标到城市节点        06 / 06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2103120"/>
            <a:ext cx="7589520" cy="0"/>
          </a:xfrm>
          <a:prstGeom prst="line">
            <a:avLst/>
          </a:prstGeom>
          <a:noFill/>
          <a:ln w="25400">
            <a:solidFill>
              <a:srgbClr val="C8C0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002536"/>
            <a:ext cx="201168" cy="2011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423160"/>
            <a:ext cx="22555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423160"/>
            <a:ext cx="225552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587752"/>
            <a:ext cx="198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 · 起步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916936"/>
            <a:ext cx="198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3246120"/>
            <a:ext cx="198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打开界面、织补门户，落地首批文化活动，打响 IP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6496" y="2002536"/>
            <a:ext cx="201168" cy="201168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17" name="Shape 15"/>
          <p:cNvSpPr/>
          <p:nvPr/>
        </p:nvSpPr>
        <p:spPr>
          <a:xfrm>
            <a:off x="3261360" y="2423160"/>
            <a:ext cx="22555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61360" y="2423160"/>
            <a:ext cx="2255520" cy="5486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9" name="Text 17"/>
          <p:cNvSpPr/>
          <p:nvPr/>
        </p:nvSpPr>
        <p:spPr>
          <a:xfrm>
            <a:off x="3398520" y="2587752"/>
            <a:ext cx="198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 · 成型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98520" y="2916936"/>
            <a:ext cx="198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年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98520" y="3246120"/>
            <a:ext cx="198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随轨道通车释放 TOD 红利，复合业态成型、运营闭环跑通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736336" y="2002536"/>
            <a:ext cx="201168" cy="201168"/>
          </a:xfrm>
          <a:prstGeom prst="ellipse">
            <a:avLst/>
          </a:prstGeom>
          <a:solidFill>
            <a:srgbClr val="7BA38E"/>
          </a:solidFill>
          <a:ln/>
        </p:spPr>
      </p:sp>
      <p:sp>
        <p:nvSpPr>
          <p:cNvPr id="23" name="Shape 21"/>
          <p:cNvSpPr/>
          <p:nvPr/>
        </p:nvSpPr>
        <p:spPr>
          <a:xfrm>
            <a:off x="5791200" y="2423160"/>
            <a:ext cx="22555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791200" y="2423160"/>
            <a:ext cx="2255520" cy="54864"/>
          </a:xfrm>
          <a:prstGeom prst="rect">
            <a:avLst/>
          </a:prstGeom>
          <a:solidFill>
            <a:srgbClr val="7BA38E"/>
          </a:solidFill>
          <a:ln/>
        </p:spPr>
      </p:sp>
      <p:sp>
        <p:nvSpPr>
          <p:cNvPr id="25" name="Text 23"/>
          <p:cNvSpPr/>
          <p:nvPr/>
        </p:nvSpPr>
        <p:spPr>
          <a:xfrm>
            <a:off x="5928360" y="2587752"/>
            <a:ext cx="198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5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远期 · 成熟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28360" y="2916936"/>
            <a:ext cx="198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A3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年以上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28360" y="3246120"/>
            <a:ext cx="198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片区成为区域文化体验节点，实现自持物业的稳定运营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ilinli/Desktop/Vibecoding/urban-renewal-report/照片/配图/和平片区/industrial_in_cit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512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371600" y="1691640"/>
            <a:ext cx="6400800" cy="1783080"/>
          </a:xfrm>
          <a:prstGeom prst="rect">
            <a:avLst/>
          </a:prstGeom>
          <a:solidFill>
            <a:srgbClr val="1A1512">
              <a:alpha val="7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371600" y="1691640"/>
            <a:ext cx="640080" cy="4572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0" y="19659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从孤岛地标，到城市节点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371600" y="2697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2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招得到商 · 聚得起人 · 在大和平商圈里错位卡位，做别人不做的那一块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4434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和平片区整体规划方案  ·  区域联动视角下的更新重构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和平片区整体规划方案</dc:title>
  <dc:subject>PptxGenJS Presentation</dc:subject>
  <dc:creator>规划设计团队</dc:creator>
  <cp:lastModifiedBy>规划设计团队</cp:lastModifiedBy>
  <cp:revision>1</cp:revision>
  <dcterms:created xsi:type="dcterms:W3CDTF">2026-07-07T07:01:43Z</dcterms:created>
  <dcterms:modified xsi:type="dcterms:W3CDTF">2026-07-07T07:01:43Z</dcterms:modified>
</cp:coreProperties>
</file>