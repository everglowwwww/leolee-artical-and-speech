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loft49/loft49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A96E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运营激活与治理经验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O P E R A T I O N   &amp;   G O V E R N A N C 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37160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08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建筑空间的更新只是物质载体的重塑，而真正让产业遗存“活”起来，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关键在于运营模式的创新与多元治理机制的构建。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5.1  L - W - P  复 合 业 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L-W-P 复合业态策略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206240" cy="68580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/>
                <a:ea typeface="Arial"/>
              </a:rPr>
              <a:t>Live（生活）</a:t>
            </a:r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  高品质居住、服务式公寓，为园区提供稳定基础人流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4206240" cy="68580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286000"/>
            <a:ext cx="54864" cy="6858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4F"/>
                </a:solidFill>
                <a:latin typeface="Arial"/>
                <a:ea typeface="Arial"/>
              </a:rPr>
              <a:t>Work（工作）</a:t>
            </a:r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  创意办公、设计工作室、科技企业，白天办公人流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4206240" cy="68580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108960"/>
            <a:ext cx="54864" cy="685800"/>
          </a:xfrm>
          <a:prstGeom prst="rect">
            <a:avLst/>
          </a:prstGeom>
          <a:solidFill>
            <a:srgbClr val="5B7B6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363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B6F"/>
                </a:solidFill>
                <a:latin typeface="Arial"/>
                <a:ea typeface="Arial"/>
              </a:rPr>
              <a:t>Play（娱乐）</a:t>
            </a:r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  展览、商业、休闲，周末和晚间带来文化消费人气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L-W-P 模式创造了"全天候"活力生态：居住者、工作人员和访客在不同时段产生不同需求，各自填充彼此的空间空白。</a:t>
            </a:r>
            <a:endParaRPr lang="en-US" sz="1000" dirty="0"/>
          </a:p>
        </p:txBody>
      </p:sp>
      <p:pic>
        <p:nvPicPr>
          <p:cNvPr id="14" name="Image 0" descr="/Users/peilinli/Desktop/Vibecoding/urban-renewal-report/照片/配图/loft49/field_5function_4val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541" y="640080"/>
            <a:ext cx="2879798" cy="3840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2064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5大功能矩阵 + 4维核心价值展板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5.2  产 商 展 集 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产 · 商 · 展 · 集 · 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8"/>
                </a:solidFill>
                <a:latin typeface="Arial"/>
                <a:ea typeface="Arial"/>
              </a:rPr>
              <a:t>五大功能矩阵构建运营闭环</a:t>
            </a:r>
            <a:endParaRPr lang="en-US" sz="1300" dirty="0"/>
          </a:p>
        </p:txBody>
      </p:sp>
      <p:pic>
        <p:nvPicPr>
          <p:cNvPr id="5" name="Image 0" descr="/Users/peilinli/Desktop/Vibecoding/urban-renewal-report/照片/配图/loft49/field_5function_w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554480"/>
            <a:ext cx="6400800" cy="196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五大功能矩阵展示——打破边界，将建筑聚落焕新为创意活力聚场  © LOFT49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1426464" cy="105156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3886200"/>
            <a:ext cx="1426464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9959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产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企业创意中心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创意企业总部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03704" y="3886200"/>
            <a:ext cx="1426464" cy="105156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12" name="Shape 9"/>
          <p:cNvSpPr/>
          <p:nvPr/>
        </p:nvSpPr>
        <p:spPr>
          <a:xfrm>
            <a:off x="2203704" y="3886200"/>
            <a:ext cx="1426464" cy="36576"/>
          </a:xfrm>
          <a:prstGeom prst="rect">
            <a:avLst/>
          </a:prstGeom>
          <a:solidFill>
            <a:srgbClr val="B8785A"/>
          </a:solidFill>
          <a:ln/>
        </p:spPr>
      </p:sp>
      <p:sp>
        <p:nvSpPr>
          <p:cNvPr id="13" name="Text 10"/>
          <p:cNvSpPr/>
          <p:nvPr/>
        </p:nvSpPr>
        <p:spPr>
          <a:xfrm>
            <a:off x="2203704" y="39959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85A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295144" y="43891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无界活力商街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游逛式新零售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67328" y="3886200"/>
            <a:ext cx="1426464" cy="105156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16" name="Shape 13"/>
          <p:cNvSpPr/>
          <p:nvPr/>
        </p:nvSpPr>
        <p:spPr>
          <a:xfrm>
            <a:off x="3767328" y="3886200"/>
            <a:ext cx="1426464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7" name="Text 14"/>
          <p:cNvSpPr/>
          <p:nvPr/>
        </p:nvSpPr>
        <p:spPr>
          <a:xfrm>
            <a:off x="3767328" y="39959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58768" y="43891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企业未来展厅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科技成果转化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30952" y="3886200"/>
            <a:ext cx="1426464" cy="105156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20" name="Shape 17"/>
          <p:cNvSpPr/>
          <p:nvPr/>
        </p:nvSpPr>
        <p:spPr>
          <a:xfrm>
            <a:off x="5330952" y="3886200"/>
            <a:ext cx="1426464" cy="36576"/>
          </a:xfrm>
          <a:prstGeom prst="rect">
            <a:avLst/>
          </a:prstGeom>
          <a:solidFill>
            <a:srgbClr val="5B7B6F"/>
          </a:solidFill>
          <a:ln/>
        </p:spPr>
      </p:sp>
      <p:sp>
        <p:nvSpPr>
          <p:cNvPr id="21" name="Text 18"/>
          <p:cNvSpPr/>
          <p:nvPr/>
        </p:nvSpPr>
        <p:spPr>
          <a:xfrm>
            <a:off x="5330952" y="39959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B6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集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22392" y="43891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灵感交流市集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创意社群聚合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94576" y="3886200"/>
            <a:ext cx="1426464" cy="1051560"/>
          </a:xfrm>
          <a:prstGeom prst="rect">
            <a:avLst/>
          </a:prstGeom>
          <a:solidFill>
            <a:srgbClr val="EFEBE3"/>
          </a:solidFill>
          <a:ln/>
        </p:spPr>
      </p:sp>
      <p:sp>
        <p:nvSpPr>
          <p:cNvPr id="24" name="Shape 21"/>
          <p:cNvSpPr/>
          <p:nvPr/>
        </p:nvSpPr>
        <p:spPr>
          <a:xfrm>
            <a:off x="6894576" y="3886200"/>
            <a:ext cx="1426464" cy="36576"/>
          </a:xfrm>
          <a:prstGeom prst="rect">
            <a:avLst/>
          </a:prstGeom>
          <a:solidFill>
            <a:srgbClr val="6B5B7B"/>
          </a:solidFill>
          <a:ln/>
        </p:spPr>
      </p:sp>
      <p:sp>
        <p:nvSpPr>
          <p:cNvPr id="25" name="Text 22"/>
          <p:cNvSpPr/>
          <p:nvPr/>
        </p:nvSpPr>
        <p:spPr>
          <a:xfrm>
            <a:off x="6894576" y="399592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B7B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秀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986016" y="43891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城市创意秀场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/>
                <a:ea typeface="Arial"/>
              </a:rPr>
              <a:t>品牌发声地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5.3  运 营 激 活 模 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空间 + 内容 + 活动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8"/>
                </a:solidFill>
                <a:latin typeface="Arial"/>
                <a:ea typeface="Arial"/>
              </a:rPr>
              <a:t>三位一体的运营激活策略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/>
                <a:ea typeface="Arial"/>
              </a:rPr>
              <a:t>空间层面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保留的工业厂房提供独特展览和活动场地，大跨度、高层高空间特质是常规商业空间无法替代的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4864" cy="6400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/>
                <a:ea typeface="Arial"/>
              </a:rPr>
              <a:t>内容层面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770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引入拾荒问野自然生活馆、窄屋精品咖啡、THINGHOOD FLORA花艺等创意型企业，形成持续内容产出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4864" cy="640080"/>
          </a:xfrm>
          <a:prstGeom prst="rect">
            <a:avLst/>
          </a:prstGeom>
          <a:solidFill>
            <a:srgbClr val="5B7B6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/>
                <a:ea typeface="Arial"/>
              </a:rPr>
              <a:t>活动层面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593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"这夏，大玩一场"夏日灵感节：闪电市集、落日音乐会、露天放映厅、二手手账市集、古典舞蹈SHOW等近十场活动</a:t>
            </a:r>
            <a:endParaRPr lang="en-US" sz="1000" dirty="0"/>
          </a:p>
        </p:txBody>
      </p:sp>
      <p:pic>
        <p:nvPicPr>
          <p:cNvPr id="14" name="Image 0" descr="/Users/peilinli/Desktop/Vibecoding/urban-renewal-report/照片/配图/loft49/field_phase2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981" y="640080"/>
            <a:ext cx="2879798" cy="3840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0352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"这夏，大玩一场"夏日灵感节活动日历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5.4  治 理 机 制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多元协作的治理机制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政府部门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规划审批、政策支持、基础设施协调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前期规划审批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05840" cy="457200"/>
          </a:xfrm>
          <a:prstGeom prst="rect">
            <a:avLst/>
          </a:prstGeom>
          <a:solidFill>
            <a:srgbClr val="9A7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国有平台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土地整理、项目投资、后续运营管理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2011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全过程参与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设计单位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总体规划、建筑改造设计、材料研究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设计阶段主导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05840" cy="457200"/>
          </a:xfrm>
          <a:prstGeom prst="rect">
            <a:avLst/>
          </a:prstGeom>
          <a:solidFill>
            <a:srgbClr val="5B7B6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运营方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招商、业态组合、活动策划、日常管理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3291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建成后运营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05840" cy="457200"/>
          </a:xfrm>
          <a:prstGeom prst="rect">
            <a:avLst/>
          </a:prstGeom>
          <a:solidFill>
            <a:srgbClr val="6B5B7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专家社区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遗产评估、文化价值研判、公众参与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3931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前期+后期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8278"/>
                </a:solidFill>
                <a:latin typeface="Arial"/>
                <a:ea typeface="Arial"/>
              </a:rPr>
              <a:t>杭实集团（世界500强第402位）构建"基金+基地+服务"三轮驱动模式，产业基金群约517亿元</a:t>
            </a:r>
            <a:endParaRPr lang="en-US" sz="900" dirty="0"/>
          </a:p>
        </p:txBody>
      </p:sp>
      <p:pic>
        <p:nvPicPr>
          <p:cNvPr id="25" name="Image 0" descr="/Users/peilinli/Desktop/Vibecoding/urban-renewal-report/照片/配图/loft49/scan_developer_f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58979"/>
            <a:ext cx="3474720" cy="24026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0352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"基金+基地+服务"三轮驱动模式  © 杭实集团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5.5  品 牌 I P  与 文 化 叙 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从工业记忆到品牌 IP</a:t>
            </a:r>
            <a:endParaRPr lang="en-US" sz="3000" dirty="0"/>
          </a:p>
        </p:txBody>
      </p:sp>
      <p:pic>
        <p:nvPicPr>
          <p:cNvPr id="4" name="Image 0" descr="/Users/peilinli/Desktop/Vibecoding/urban-renewal-report/照片/配图/loft49/field_policy_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39" y="1371600"/>
            <a:ext cx="3902202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"发条蛙"IP文创展示柜：帆布包、笔记本、徽章、奖杯等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"发条蛙" IP 体系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0" y="1965960"/>
            <a:ext cx="54864" cy="2743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Arial"/>
                <a:ea typeface="Arial"/>
              </a:rPr>
              <a:t>灵感源自七八十年代经典"铁皮发条青蛙"工业玩具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2377440"/>
            <a:ext cx="54864" cy="2743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Arial"/>
                <a:ea typeface="Arial"/>
              </a:rPr>
              <a:t>赋予"创意、复古、机械"的人格化品牌特征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788920"/>
            <a:ext cx="54864" cy="2743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Arial"/>
                <a:ea typeface="Arial"/>
              </a:rPr>
              <a:t>已开发帆布包、笔记本、徽章、冰箱贴、奖杯等全系列文创产品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3200400"/>
            <a:ext cx="54864" cy="2743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4" name="Text 11"/>
          <p:cNvSpPr/>
          <p:nvPr/>
        </p:nvSpPr>
        <p:spPr>
          <a:xfrm>
            <a:off x="525780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Arial"/>
                <a:ea typeface="Arial"/>
              </a:rPr>
              <a:t>配备AR体验入口"遇见LOFT49 未来共赏"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611880"/>
            <a:ext cx="54864" cy="2743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C0B8"/>
                </a:solidFill>
                <a:latin typeface="Arial"/>
                <a:ea typeface="Arial"/>
              </a:rPr>
              <a:t>融入园区标识系统，形成从空间叙事到城市记忆的完整转化链条</a:t>
            </a:r>
            <a:endParaRPr lang="en-US" sz="1000" dirty="0"/>
          </a:p>
        </p:txBody>
      </p:sp>
      <p:pic>
        <p:nvPicPr>
          <p:cNvPr id="17" name="Image 1" descr="/Users/peilinli/Desktop/Vibecoding/urban-renewal-report/照片/配图/loft49/field_exhibition_wa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4069080"/>
            <a:ext cx="3474720" cy="868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4617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更新城市创造力——从工业聚落到创意聚场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sld xmlns="http://schemas.openxmlformats.org/presentationml/2006/main" xmlns:a="http://schemas.openxmlformats.org/drawingml/2006/main" xmlns:ns2="http://schemas.microsoft.com/office/powerpoint/2010/main">
  <cSld name="Slide 7">
    <bg>
      <bgPr>
        <a:solidFill>
          <a:srgbClr val="F5F0E8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320040"/>
            <a:ext cx="5486400" cy="2743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05 — 5.6  案 例 对 比</a:t>
            </a:r>
            <a:endParaRPr lang="en-US" sz="1000" dirty="0"/>
          </a:p>
        </txBody>
      </sp>
      <sp>
        <nvSpPr>
          <cNvPr id="3" name="Text 1"/>
          <cNvSpPr/>
          <nvPr/>
        </nvSpPr>
        <spPr>
          <a:xfrm>
            <a:off x="640080" y="640080"/>
            <a:ext cx="73152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国内外工业遗产更新案例对比</a:t>
            </a:r>
            <a:endParaRPr lang="en-US" sz="2800" dirty="0"/>
          </a:p>
        </txBody>
      </sp>
      <graphicFrame>
        <nvGraphicFramePr>
          <cNvPr id="8" name="Table 0"/>
          <cNvGraphicFramePr>
            <a:graphicFrameLocks noGrp="1"/>
          </cNvGraphicFramePr>
          <nvPr>
            <extLst>
              <ext uri="{D42A27DB-BD31-4B8C-83A1-F6EECF244321}">
                <ns2:modId val="1579011935"/>
              </ext>
            </extLst>
          </nvPr>
        </nvGraphicFramePr>
        <xfrm>
          <a:off x="457200" y="1325880"/>
          <a:ext cx="8229600" cy="914400"/>
        </xfrm>
        <a:graphic>
          <a:graphicData uri="http://schemas.openxmlformats.org/drawingml/2006/table">
            <a:tbl>
              <a:tblPr/>
              <a:tblGrid>
                <a:gridCol w="868680"/>
                <a:gridCol w="548640"/>
                <a:gridCol w="1508760"/>
                <a:gridCol w="1371600"/>
                <a:gridCol w="8229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项目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城市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更新策略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业态模式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规模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治理特征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LOFT49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杭州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以遗产为核的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系统更新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L-W-P复合模式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约10万㎡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政府+国企+设计+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运营多元协作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D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北京798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北京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自发式艺术区改造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艺术工作室+展览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约60万㎡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自下而上，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管理松散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上海M50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上海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最小改动的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保护性更新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艺术工作室+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创意办公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约35万㎡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政府引导下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自发更新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首钢园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北京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巨型工业设施保护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与城市公园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体育+展览+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办公+商业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约8km²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政府主导的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大型城市更新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泰特现代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伦敦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发电厂改造为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现代美术馆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美术馆+商业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约3.5万㎡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纯文化导向，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建筑师主导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鲁尔区IBA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德国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巨型工业区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综合复兴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科研+居住+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休闲+商业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约200km²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国际建筑展驱动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048"/>
                          </a:solidFill>
                          <a:latin typeface="Arial"/>
                          <a:ea typeface="Arial"/>
                        </a:rPr>
                        <a:t>的综合复兴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</a:tr>
            </a:tbl>
          </a:graphicData>
        </a:graphic>
      </graphicFrame>
      <sp>
        <nvSpPr>
          <cNvPr id="5" name="Shape 2"/>
          <cNvSpPr/>
          <nvPr/>
        </nvSpPr>
        <spPr>
          <a:xfrm>
            <a:off x="640080" y="4434840"/>
            <a:ext cx="7863840" cy="502920"/>
          </a:xfrm>
          <a:prstGeom prst="rect">
            <a:avLst/>
          </a:prstGeom>
          <a:solidFill>
            <a:srgbClr val="EFEBE3"/>
          </a:solidFill>
          <a:ln/>
        </spPr>
      </sp>
      <sp>
        <nvSpPr>
          <cNvPr id="6" name="Shape 3"/>
          <cNvSpPr/>
          <nvPr/>
        </nvSpPr>
        <spPr>
          <a:xfrm>
            <a:off x="640080" y="4434840"/>
            <a:ext cx="54864" cy="502920"/>
          </a:xfrm>
          <a:prstGeom prst="rect">
            <a:avLst/>
          </a:prstGeom>
          <a:solidFill>
            <a:srgbClr val="B85042"/>
          </a:solidFill>
          <a:ln/>
        </spPr>
      </sp>
      <sp>
        <nvSpPr>
          <cNvPr id="7" name="Text 4"/>
          <cNvSpPr/>
          <nvPr/>
        </nvSpPr>
        <spPr>
          <a:xfrm>
            <a:off x="868680" y="4434840"/>
            <a:ext cx="7498080" cy="5029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LOFT49 兼具专业设计主导的精品化改造（如泰特现代）和多元业态复合的运营策略（如首钢园），但规模更适中，治理上采取了政府、国企、设计、运营多方协作的中间路线。</a:t>
            </a:r>
            <a:endParaRPr lang="en-US" sz="1000" dirty="0"/>
          </a:p>
        </txBody>
      </sp>
    </spTree>
  </cSld>
  <clrMapOvr>
    <a:masterClrMapping/>
  </clrMapOvr>
</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heping_musichall_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A96E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思考与展望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R E F L E C T I O N   &amp;   O U T L O O 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37160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08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LOFT49 的更新实践为中国产业遗存更新提供了宝贵样本。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结合和平片区音乐厅项目进行对比，探讨遗产保护、理念适用与实践启示。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sld xmlns="http://schemas.openxmlformats.org/presentationml/2006/main" xmlns:a="http://schemas.openxmlformats.org/drawingml/2006/main" xmlns:r="http://schemas.openxmlformats.org/officeDocument/2006/relationships">
  <cSld name="Slide 9">
    <bg>
      <bgPr>
        <a:solidFill>
          <a:srgbClr val="F5F0E8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320040"/>
            <a:ext cx="5486400" cy="2743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06 — 6.1  遗 产 保 护 平 衡</a:t>
            </a:r>
            <a:endParaRPr lang="en-US" sz="1000" dirty="0"/>
          </a:p>
        </txBody>
      </sp>
      <sp>
        <nvSpPr>
          <cNvPr id="3" name="Text 1"/>
          <cNvSpPr/>
          <nvPr/>
        </nvSpPr>
        <spPr>
          <a:xfrm>
            <a:off x="640080" y="640080"/>
            <a:ext cx="73152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遗产保护与开发强度的平衡点</a:t>
            </a:r>
            <a:endParaRPr lang="en-US" sz="2800" dirty="0"/>
          </a:p>
        </txBody>
      </sp>
      <sp>
        <nvSpPr>
          <cNvPr id="4" name="Shape 2"/>
          <cNvSpPr/>
          <nvPr/>
        </nvSpPr>
        <spPr>
          <a:xfrm>
            <a:off x="457200" y="1371600"/>
            <a:ext cx="3931920" cy="3474720"/>
          </a:xfrm>
          <a:prstGeom prst="rect">
            <a:avLst/>
          </a:prstGeom>
          <a:solidFill>
            <a:srgbClr val="EFEBE3"/>
          </a:solidFill>
          <a:ln/>
        </spPr>
      </sp>
      <sp>
        <nvSpPr>
          <cNvPr id="5" name="Shape 3"/>
          <cNvSpPr/>
          <nvPr/>
        </nvSpPr>
        <spPr>
          <a:xfrm>
            <a:off x="457200" y="1371600"/>
            <a:ext cx="3931920" cy="36576"/>
          </a:xfrm>
          <a:prstGeom prst="rect">
            <a:avLst/>
          </a:prstGeom>
          <a:solidFill>
            <a:srgbClr val="B85042"/>
          </a:solidFill>
          <a:ln/>
        </spPr>
      </sp>
      <sp>
        <nvSpPr>
          <cNvPr id="6" name="Text 4"/>
          <cNvSpPr/>
          <nvPr/>
        </nvSpPr>
        <spPr>
          <a:xfrm>
            <a:off x="640080" y="1508760"/>
            <a:ext cx="3566160" cy="36576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LOFT49</a:t>
            </a:r>
            <a:endParaRPr lang="en-US" sz="1600" dirty="0"/>
          </a:p>
        </txBody>
      </sp>
      <sp>
        <nvSpPr>
          <cNvPr id="7" name="Text 5"/>
          <cNvSpPr/>
          <nvPr/>
        </nvSpPr>
        <spPr>
          <a:xfrm>
            <a:off x="640080" y="1874520"/>
            <a:ext cx="3566160" cy="2743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</a:rPr>
              <a:t>定点保护 + 弹性增量</a:t>
            </a:r>
            <a:endParaRPr lang="en-US" sz="1200" dirty="0"/>
          </a:p>
        </txBody>
      </sp>
      <sp>
        <nvSpPr>
          <cNvPr id="8" name="Text 6"/>
          <cNvSpPr/>
          <nvPr/>
        </nvSpPr>
        <spPr>
          <a:xfrm>
            <a:off x="640080" y="2194560"/>
            <a:ext cx="3566160" cy="91440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通过"定点保护+弹性增量"的空间策略实现遗产保护与开发效益的平衡。6号楼和10号楼作为高价值遗产节点被完整保留，释放的地块用于新建产业空间，构建了"以旧为核、以新围旧"的空间格局。</a:t>
            </a:r>
            <a:endParaRPr lang="en-US" sz="1000" dirty="0"/>
          </a:p>
        </txBody>
      </sp>
      <pic>
        <nvPicPr>
          <cNvPr id="9" name="Image 0" descr="/Users/peilinli/Desktop/Vibecoding/urban-renewal-report/照片/配图/loft49/loft49_overview.jpg">    </cNvPr>
          <cNvPicPr>
            <a:picLocks noChangeAspect="1"/>
          </cNvPicPr>
          <nvPr/>
        </nvPicPr>
        <blipFill>
          <a:blip r:embed="rId1"/>
          <a:srcRect l="0" r="0" t="0" b="0"/>
          <a:stretch/>
        </blipFill>
        <spPr>
          <a:xfrm>
            <a:off x="640080" y="3154680"/>
            <a:ext cx="3566160" cy="1463040"/>
          </a:xfrm>
          <a:prstGeom prst="rect">
            <a:avLst/>
          </a:prstGeom>
        </spPr>
      </pic>
      <sp>
        <nvSpPr>
          <cNvPr id="10" name="Shape 7"/>
          <cNvSpPr/>
          <nvPr/>
        </nvSpPr>
        <spPr>
          <a:xfrm>
            <a:off x="4754880" y="1371600"/>
            <a:ext cx="3931920" cy="3474720"/>
          </a:xfrm>
          <a:prstGeom prst="rect">
            <a:avLst/>
          </a:prstGeom>
          <a:solidFill>
            <a:srgbClr val="EFEBE3"/>
          </a:solidFill>
          <a:ln/>
        </spPr>
      </sp>
      <sp>
        <nvSpPr>
          <cNvPr id="11" name="Shape 8"/>
          <cNvSpPr/>
          <nvPr/>
        </nvSpPr>
        <spPr>
          <a:xfrm>
            <a:off x="4754880" y="1371600"/>
            <a:ext cx="3931920" cy="36576"/>
          </a:xfrm>
          <a:prstGeom prst="rect">
            <a:avLst/>
          </a:prstGeom>
          <a:solidFill>
            <a:srgbClr val="5B7B6F"/>
          </a:solidFill>
          <a:ln/>
        </spPr>
      </sp>
      <sp>
        <nvSpPr>
          <cNvPr id="12" name="Text 9"/>
          <cNvSpPr/>
          <nvPr/>
        </nvSpPr>
        <spPr>
          <a:xfrm>
            <a:off x="4937760" y="1508760"/>
            <a:ext cx="3566160" cy="36576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B6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和平片区</a:t>
            </a:r>
            <a:endParaRPr lang="en-US" sz="1600" dirty="0"/>
          </a:p>
        </txBody>
      </sp>
      <sp>
        <nvSpPr>
          <cNvPr id="13" name="Text 10"/>
          <cNvSpPr/>
          <nvPr/>
        </nvSpPr>
        <spPr>
          <a:xfrm>
            <a:off x="4937760" y="1874520"/>
            <a:ext cx="3566160" cy="2743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</a:rPr>
              <a:t>功能注入 · 价值转化</a:t>
            </a:r>
            <a:endParaRPr lang="en-US" sz="1200" dirty="0"/>
          </a:p>
        </txBody>
      </sp>
      <sp>
        <nvSpPr>
          <cNvPr id="14" name="Text 11"/>
          <cNvSpPr/>
          <nvPr/>
        </nvSpPr>
        <spPr>
          <a:xfrm>
            <a:off x="4937760" y="2194560"/>
            <a:ext cx="3566160" cy="91440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将8号厂房改造为杭州爱乐乐团驻场音乐厅——高文化附加值的功能定位，使遗产保护从"成本"转化为"价值"。当功能定位足够精准时，保护与开发之间的张力可以转化为相互增强的动力。</a:t>
            </a:r>
            <a:endParaRPr lang="en-US" sz="1000" dirty="0"/>
          </a:p>
        </txBody>
      </sp>
      <pic>
        <nvPicPr>
          <cNvPr id="15" name="Image 1" descr="/Users/peilinli/Desktop/Vibecoding/urban-renewal-report/images/heping_musichall_entrance.jpg">    </cNvPr>
          <cNvPicPr>
            <a:picLocks noChangeAspect="1"/>
          </cNvPicPr>
          <nvPr/>
        </nvPicPr>
        <blipFill>
          <a:blip r:embed="rId2"/>
          <a:srcRect l="0" r="0" t="0" b="0"/>
          <a:stretch/>
        </blipFill>
        <spPr>
          <a:xfrm>
            <a:off x="4937760" y="3154680"/>
            <a:ext cx="3566160" cy="1463040"/>
          </a:xfrm>
          <a:prstGeom prst="rect">
            <a:avLst/>
          </a:prstGeom>
        </spPr>
      </pic>
    </spTree>
  </cSld>
  <clrMapOvr>
    <a:masterClrMapping/>
  </clrMapOvr>
</sld>
</file>

<file path=ppt/slides/slide10.xml><?xml version="1.0" encoding="utf-8"?>
<sld xmlns="http://schemas.openxmlformats.org/presentationml/2006/main" xmlns:a="http://schemas.openxmlformats.org/drawingml/2006/main" xmlns:r="http://schemas.openxmlformats.org/officeDocument/2006/relationships">
  <cSld name="Slide 10">
    <bg>
      <bgPr>
        <a:solidFill>
          <a:srgbClr val="F5F0E8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320040"/>
            <a:ext cx="5486400" cy="2743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06 — 6.2  理 念 适 用 性</a:t>
            </a:r>
            <a:endParaRPr lang="en-US" sz="1000" dirty="0"/>
          </a:p>
        </txBody>
      </sp>
      <sp>
        <nvSpPr>
          <cNvPr id="3" name="Text 1"/>
          <cNvSpPr/>
          <nvPr/>
        </nvSpPr>
        <spPr>
          <a:xfrm>
            <a:off x="640080" y="640080"/>
            <a:ext cx="73152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"城市金缮"理念的适用性边界</a:t>
            </a:r>
            <a:endParaRPr lang="en-US" sz="2800" dirty="0"/>
          </a:p>
        </txBody>
      </sp>
      <pic>
        <nvPicPr>
          <cNvPr id="4" name="Image 0" descr="/Users/peilinli/Desktop/Vibecoding/urban-renewal-report/images/heping_factory_original.jpg">    </cNvPr>
          <cNvPicPr>
            <a:picLocks noChangeAspect="1"/>
          </cNvPicPr>
          <nvPr/>
        </nvPicPr>
        <blipFill>
          <a:blip r:embed="rId1"/>
          <a:srcRect l="0" r="0" t="0" b="0"/>
          <a:stretch/>
        </blipFill>
        <spPr>
          <a:xfrm>
            <a:off x="640080" y="1371600"/>
            <a:ext cx="3657600" cy="1920240"/>
          </a:xfrm>
          <a:prstGeom prst="rect">
            <a:avLst/>
          </a:prstGeom>
        </spPr>
      </pic>
      <sp>
        <nvSpPr>
          <cNvPr id="5" name="Text 2"/>
          <cNvSpPr/>
          <nvPr/>
        </nvSpPr>
        <spPr>
          <a:xfrm>
            <a:off x="640080" y="3337560"/>
            <a:ext cx="3657600" cy="22860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和平片区工厂原貌——大跨度厂房群</a:t>
            </a:r>
            <a:endParaRPr lang="en-US" sz="800" dirty="0"/>
          </a:p>
        </txBody>
      </sp>
      <pic>
        <nvPicPr>
          <cNvPr id="6" name="Image 1" descr="/Users/peilinli/Desktop/Vibecoding/urban-renewal-report/images/heping_protection_strategy.jpg">    </cNvPr>
          <cNvPicPr>
            <a:picLocks noChangeAspect="1"/>
          </cNvPicPr>
          <nvPr/>
        </nvPicPr>
        <blipFill>
          <a:blip r:embed="rId2"/>
          <a:srcRect l="0" r="0" t="0" b="0"/>
          <a:stretch/>
        </blipFill>
        <spPr>
          <a:xfrm>
            <a:off x="4846320" y="1371600"/>
            <a:ext cx="3657600" cy="1920240"/>
          </a:xfrm>
          <a:prstGeom prst="rect">
            <a:avLst/>
          </a:prstGeom>
        </spPr>
      </pic>
      <sp>
        <nvSpPr>
          <cNvPr id="7" name="Text 3"/>
          <cNvSpPr/>
          <nvPr/>
        </nvSpPr>
        <spPr>
          <a:xfrm>
            <a:off x="4846320" y="3337560"/>
            <a:ext cx="3657600" cy="22860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/>
                <a:ea typeface="Arial"/>
              </a:rPr>
              <a:t>▲ "房中房"脱开结构设计与屋面复建方案</a:t>
            </a:r>
            <a:endParaRPr lang="en-US" sz="800" dirty="0"/>
          </a:p>
        </txBody>
      </sp>
      <sp>
        <nvSpPr>
          <cNvPr id="8" name="Shape 4"/>
          <cNvSpPr/>
          <nvPr/>
        </nvSpPr>
        <spPr>
          <a:xfrm>
            <a:off x="640080" y="3703320"/>
            <a:ext cx="7863840" cy="1097280"/>
          </a:xfrm>
          <a:prstGeom prst="rect">
            <a:avLst/>
          </a:prstGeom>
          <a:solidFill>
            <a:srgbClr val="EFEBE3"/>
          </a:solidFill>
          <a:ln/>
        </spPr>
      </sp>
      <sp>
        <nvSpPr>
          <cNvPr id="9" name="Shape 5"/>
          <cNvSpPr/>
          <nvPr/>
        </nvSpPr>
        <spPr>
          <a:xfrm>
            <a:off x="640080" y="3703320"/>
            <a:ext cx="54864" cy="1097280"/>
          </a:xfrm>
          <a:prstGeom prst="rect">
            <a:avLst/>
          </a:prstGeom>
          <a:solidFill>
            <a:srgbClr val="B85042"/>
          </a:solidFill>
          <a:ln/>
        </spPr>
      </sp>
      <sp>
        <nvSpPr>
          <cNvPr id="10" name="Text 6"/>
          <cNvSpPr/>
          <nvPr/>
        </nvSpPr>
        <spPr>
          <a:xfrm>
            <a:off x="868680" y="3749040"/>
            <a:ext cx="7498080" cy="100584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/>
                <a:ea typeface="Arial"/>
              </a:rPr>
              <a:t>LOFT49 的"城市金缮"理念强调以遗产为轴心的空间缝合与新旧对话。和平片区展示了理念调整的方向——"金缮"的内涵从"缝合裂纹"拓展为"嵌入新生"：圆形音乐厅被巧妙嵌入原有厂房结构，新建音乐厅采用与原厂房完全脱开的独立结构体系，减少对原厂房的干扰，体现了从"粗放式保留"到"精准化介入"的理念升级。</a:t>
            </a:r>
            <a:endParaRPr lang="en-US" sz="1100" dirty="0"/>
          </a:p>
        </txBody>
      </sp>
    </spTree>
  </cSld>
  <clrMapOvr>
    <a:masterClrMapping/>
  </clrMapOvr>
</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loft49/loft49_effect_vs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 b="1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Georgia" pitchFamily="34" charset="-120"/>
              </a:rPr>
              <a:t>06 — 6.3  实 践 启 示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从 LOFT49 到和平片区的实践启示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遗产价值识别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606040"/>
            <a:ext cx="914400" cy="0"/>
          </a:xfrm>
          <a:prstGeom prst="line">
            <a:avLst/>
          </a:prstGeom>
          <a:noFill/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C8C0B8"/>
                </a:solidFill>
                <a:latin typeface="Arial"/>
                <a:ea typeface="Arial"/>
              </a:rPr>
              <a:t>对遗产价值的准确识别和创造性转化，是成功更新的前提。LOFT49 以小尺度、低成本、高创意开创了先河。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6576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功能定位匹配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57600" y="2606040"/>
            <a:ext cx="914400" cy="0"/>
          </a:xfrm>
          <a:prstGeom prst="line">
            <a:avLst/>
          </a:prstGeom>
          <a:noFill/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C8C0B8"/>
                </a:solidFill>
                <a:latin typeface="Arial"/>
                <a:ea typeface="Arial"/>
              </a:rPr>
              <a:t>与城市需求高度匹配的功能定位至关重要。和平片区将音乐厅植入厂房，使保护价值不再需要额外论证。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49224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Microsoft YaHei" pitchFamily="34" charset="-120"/>
              </a:rPr>
              <a:t>新旧精密对话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92240" y="2606040"/>
            <a:ext cx="914400" cy="0"/>
          </a:xfrm>
          <a:prstGeom prst="line">
            <a:avLst/>
          </a:prstGeom>
          <a:noFill/>
          <a:ln w="12700">
            <a:solidFill>
              <a:srgbClr val="C8A9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C8C0B8"/>
                </a:solidFill>
                <a:latin typeface="Arial"/>
                <a:ea typeface="Arial"/>
              </a:rPr>
              <a:t>新旧建筑在结构和空间层面的精密对话。当工业厂房成为城市文化设施，它本身就成为最具标志性的空间。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A96E"/>
                </a:solidFill>
                <a:latin typeface="Arial"/>
                <a:ea typeface="Arial"/>
              </a:rPr>
              <a:t>中国产业遗存更新正在从早期的"艺术家自发改造"走向"政府主导 + 专业团队 + 文化定位"的系统化实践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LOFT49 产业遗存更新深度解析 — 第五章 &amp; 第六章</dc:title>
  <dc:subject>PptxGenJS Presentation</dc:subject>
  <dc:creator>LOFT49 Analysis</dc:creator>
  <cp:lastModifiedBy>LOFT49 Analysis</cp:lastModifiedBy>
  <cp:revision>1</cp:revision>
  <dcterms:created xsi:type="dcterms:W3CDTF">2026-07-07T08:13:53Z</dcterms:created>
  <dcterms:modified xsi:type="dcterms:W3CDTF">2026-07-07T08:13:53Z</dcterms:modified>
</cp:coreProperties>
</file>