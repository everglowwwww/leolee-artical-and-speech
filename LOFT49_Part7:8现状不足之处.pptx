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ilinli/Desktop/Vibecoding/urban-renewal-report/images/loft49_realit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097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挑战与反思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CRITIQUE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3520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入驻率偏低、商业人气冷清、新旧倒挂、产业支撑不足——正视问题才能真正修复裂痕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7.1 入驻率落差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一期与二期的冰火两重天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43891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88720"/>
            <a:ext cx="54864" cy="105156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618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一期：相对成熟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08960" y="1234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5087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建成时间较早，入驻率约90%，商户和企业招牌齐全，空间使用痕迹明显，经过二十余年完成从艺术家自发聚落到成熟园区的转变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4389120" cy="1051560"/>
          </a:xfrm>
          <a:prstGeom prst="rect">
            <a:avLst/>
          </a:prstGeom>
          <a:solidFill>
            <a:srgbClr val="2A24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450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二期：严峻现状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0896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&lt;40%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26974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入驻率不足40%，多处区域仍在施工，围挡、脚手架和裸露结构随处可见。部分已交付办公楼内部仍为纯毛坯状态，尚未装修或招商入驻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43891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566160"/>
            <a:ext cx="54864" cy="10515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393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核心追问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86791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二期9.59万方"现代化产业空间"的规划愿景与现实落差明显。"边建设、边招商、边运营"的开发节奏是否与市场去化能力匹配？智慧经济、创意设计、数字创意三大方向目前更多停留在规划蓝图层面</a:t>
            </a:r>
            <a:endParaRPr lang="en-US" sz="800" dirty="0"/>
          </a:p>
        </p:txBody>
      </p:sp>
      <p:pic>
        <p:nvPicPr>
          <p:cNvPr id="18" name="Image 0" descr="/Users/peilinli/Desktop/Vibecoding/urban-renewal-report/images/loft49_effect_vs_re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188720"/>
            <a:ext cx="3657600" cy="24384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937760" y="36728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建成实景——展示现状与规划蓝图之间的落差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7.2 商业冷清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谁在真正使用这个园区？</a:t>
            </a:r>
            <a:endParaRPr lang="en-US" sz="2200" dirty="0"/>
          </a:p>
        </p:txBody>
      </p:sp>
      <p:pic>
        <p:nvPicPr>
          <p:cNvPr id="5" name="Image 0" descr="/Users/peilinli/Desktop/Vibecoding/urban-renewal-report/images/field_exhibition_w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3902969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160520"/>
            <a:ext cx="390296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展厅区位图——规划愿景中的资源密集分布与园区冷清现状形成反差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5029200" y="118872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0" y="1188720"/>
            <a:ext cx="54864" cy="13716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6"/>
          <p:cNvSpPr/>
          <p:nvPr/>
        </p:nvSpPr>
        <p:spPr>
          <a:xfrm>
            <a:off x="5212080" y="12618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实地走访观察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212080" y="1490472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工作日园区人流量极小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商业消费氛围几乎感受不到——绝大多数标注为商业、零售、餐饮功能的空间要么大门紧闭，要么招商未定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实际活动人群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主要是附近居民带老人和小孩在广场散步，并非项目定位的创意办公或消费客群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029200" y="2697480"/>
            <a:ext cx="3657600" cy="1371600"/>
          </a:xfrm>
          <a:prstGeom prst="rect">
            <a:avLst/>
          </a:prstGeom>
          <a:solidFill>
            <a:srgbClr val="2A24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212080" y="27706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规划愿景 vs 现实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212080" y="2999232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展板描述："产、商、展、集、秀"五大功能矩阵，"打破边界、编织多元场景、构建创意社群场域"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现场实况：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入驻商户屈指可数，日常人流稀少。夏日灵感节等活动是间歇性的，无法替代对园区日常状态的判断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029200" y="4206240"/>
            <a:ext cx="3657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029200" y="4206240"/>
            <a:ext cx="54864" cy="5943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6" name="Text 13"/>
          <p:cNvSpPr/>
          <p:nvPr/>
        </p:nvSpPr>
        <p:spPr>
          <a:xfrm>
            <a:off x="5212080" y="42793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b="1" i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在没有活动加持的普通工作日，园区能否依靠自身的产业和商业内容持续吸引人流？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7.3 新旧倒挂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"遗产更新"的真实性追问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4114800" cy="1371600"/>
          </a:xfrm>
          <a:prstGeom prst="rect">
            <a:avLst/>
          </a:prstGeom>
          <a:solidFill>
            <a:srgbClr val="2A24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2618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遗存占比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5.5%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560320" y="12618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新建比例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60320" y="1417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&gt;94%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总建筑面积15.79万㎡中，保留遗存仅约8630㎡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697480"/>
            <a:ext cx="54864" cy="20116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706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结构性问题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999232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当94%以上的空间都是全新建造时，项目本质更接近于"点缀了少量工业遗存元素的新建产业园区"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这并非否定line+团队在6号楼、10号楼保护性改造上的专业水准，而是提醒：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当遗存体量越来越小，它在整个园区中的空间存在感和文化影响力也相应减弱——如何避免老厂房沦为新建筑群中的点缀式装饰？</a:t>
            </a:r>
            <a:endParaRPr lang="en-US" sz="800" dirty="0"/>
          </a:p>
        </p:txBody>
      </p:sp>
      <p:pic>
        <p:nvPicPr>
          <p:cNvPr id="15" name="Image 0" descr="/Users/peilinli/Desktop/Vibecoding/urban-renewal-report/images/scan_developer_fu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188720"/>
            <a:ext cx="3840480" cy="265559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029200" y="389003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"基金+基地+服务"模式展板——大体量、强资本驱动模式的去化压力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7.4-7.6 综合反思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产业支撑·创意氛围·基金模式·文化深度</a:t>
            </a:r>
            <a:endParaRPr lang="en-US" sz="2000" dirty="0"/>
          </a:p>
        </p:txBody>
      </p:sp>
      <p:pic>
        <p:nvPicPr>
          <p:cNvPr id="5" name="Image 0" descr="/Users/peilinli/Desktop/Vibecoding/urban-renewal-report/images/field_ip_frogb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9646" y="1097280"/>
            <a:ext cx="2804708" cy="2103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69646" y="3227832"/>
            <a:ext cx="28047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"更新城市创造力"展览墙与发条蛙IP——反思文化深度与品牌包装的张力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548640" y="3337560"/>
            <a:ext cx="19659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3337560"/>
            <a:ext cx="54864" cy="13258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4107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 产业孤岛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800" y="363931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周边以住宅为主，缺乏关联产业集群。招商更多依赖园区自身吸引力，而非区域产业生态协同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624328" y="3337560"/>
            <a:ext cx="19659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24328" y="3337560"/>
            <a:ext cx="54864" cy="13258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10"/>
          <p:cNvSpPr/>
          <p:nvPr/>
        </p:nvSpPr>
        <p:spPr>
          <a:xfrm>
            <a:off x="2761488" y="34107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 创意挤出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761488" y="363931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二期现代化空间租金高于一期自发阶段。若只剩下大型科技公司和连锁品牌，LOFT49与普通甲级写字楼将无本质区别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700016" y="3337560"/>
            <a:ext cx="19659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00016" y="3337560"/>
            <a:ext cx="54864" cy="13258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7" name="Text 14"/>
          <p:cNvSpPr/>
          <p:nvPr/>
        </p:nvSpPr>
        <p:spPr>
          <a:xfrm>
            <a:off x="4837176" y="34107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 基金去化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837176" y="363931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杭实集团产业基金群约517亿元。但入驻率&lt;40%和大面积未完工，是"大体量、强资本驱动"模式的现实去化压力体现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775704" y="3337560"/>
            <a:ext cx="19659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775704" y="3337560"/>
            <a:ext cx="54864" cy="13258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1" name="Text 18"/>
          <p:cNvSpPr/>
          <p:nvPr/>
        </p:nvSpPr>
        <p:spPr>
          <a:xfrm>
            <a:off x="6912864" y="34107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 文化真实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912864" y="363931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发条蛙IP虽讨喜，但与杭州化纤厂工业记忆的文化关联稀薄。工业遗产的价值在于"真实"和"厚重"而非"好看"和"有趣"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结语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EPILOGUE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828800" cy="27432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城市更新的"金缮"精神，</a:t>
            </a:r>
            <a:endParaRPr lang="en-US" sz="24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不仅在于美化裂痕，</a:t>
            </a:r>
            <a:endParaRPr lang="en-US" sz="24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更在于正视裂痕。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LOFT49二期当前最需要正视的，并不是某个抽象的理论风险，而是实地走访中看到的具体现实：入驻率不足40%、大量区域仍在施工、多数办公空间处于毛坯状态、商业和人气远未达到规划设想的水平。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真正的好项目，不是没有问题，而是敢于正视问题并在实践中不断修正。LOFT49一期用二十余年完成了从艺术家自发聚落到成熟园区的转变，证明这类项目的成长需要足够的时间和耐心。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承认裂缝的存在，才能以精心的介入去真正修复它，而不是用一层新的涂装遮盖它。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ilinli/Desktop/Vibecoding/urban-renewal-report/images/loft49_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560320"/>
            <a:ext cx="9144000" cy="2583180"/>
          </a:xfrm>
          <a:prstGeom prst="rect">
            <a:avLst/>
          </a:prstGeom>
          <a:solidFill>
            <a:srgbClr val="000000">
              <a:alpha val="7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JINSHAN · 城市金缮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3152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3152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谢谢观看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LOFT49产业遗存更新深度解析  |  城市规划与建筑双视角的策略分析  |  2025年7月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LOFT49 — 第七章 挑战与反思 &amp; 结尾</dc:title>
  <dc:subject>挑战与反思、结语</dc:subject>
  <dc:creator>Urban Renewal Analysis</dc:creator>
  <cp:lastModifiedBy>Urban Renewal Analysis</cp:lastModifiedBy>
  <cp:revision>1</cp:revision>
  <dcterms:created xsi:type="dcterms:W3CDTF">2026-07-07T08:31:17Z</dcterms:created>
  <dcterms:modified xsi:type="dcterms:W3CDTF">2026-07-07T08:31:17Z</dcterms:modified>
</cp:coreProperties>
</file>