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ilinli/Desktop/Vibecoding/urban-renewal-report/images/pdf_final_aeri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097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规划策略深度解析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STRATEGY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3520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拆留决策、空间结构、容量策略、开放街区、景观体系与控规调整——系统拆解LOFT49的规划逻辑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3.1 "拆留"决策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基于遗产评估的科学甄别</a:t>
            </a:r>
            <a:endParaRPr lang="en-US" sz="2200" dirty="0"/>
          </a:p>
        </p:txBody>
      </p:sp>
      <p:pic>
        <p:nvPicPr>
          <p:cNvPr id="5" name="Image 0" descr="/Users/peilinli/Desktop/Vibecoding/urban-renewal-report/images/pdf_construction_aeri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9291" y="1188720"/>
            <a:ext cx="3505419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19291" y="3044952"/>
            <a:ext cx="35054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拆除后场地鸟瞰——空地上保留的两栋核心建筑轮廓清晰可见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26060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3246120"/>
            <a:ext cx="54864" cy="80467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3192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四维度评估体系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8580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历史价值（建造年代·事件关联度）· 物质状态（结构安全性·保存完整度）· 建筑特征（工业特征完备程度）· 空间地位（厂区格局中的核心性）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291840" y="3246120"/>
            <a:ext cx="26060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3246120"/>
            <a:ext cx="54864" cy="80467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0"/>
          <p:cNvSpPr/>
          <p:nvPr/>
        </p:nvSpPr>
        <p:spPr>
          <a:xfrm>
            <a:off x="3429000" y="33192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"点-线-面"拆留逻辑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42900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"点"：6号楼+10号楼作为高价值遗产节点完整保留；"线"：两节点间重组为中轴线形成空间骨架；"面"：拆除建筑释放地块重新规划为新建用地与开放广场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6035040" y="3246120"/>
            <a:ext cx="26060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35040" y="3246120"/>
            <a:ext cx="54864" cy="80467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33192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科学决策成果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17220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10号楼四项指标均高分→完整保留；后建仓库结构损坏且无工业特征→拆除；结果：遗产居中为核，新建外围环绕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3.2 空间结构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以遗产为核的中轴线组织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0292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54864" cy="9601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618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"以旧为核、以新围旧"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49047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6号楼和10号楼构成园区中轴线和精神中心，新建建筑沿中轴线两侧展开布局。新建筑如同从旧工业基底中自然生长的新枝，共同构成完整的空间生态系统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0292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86000"/>
            <a:ext cx="54864" cy="9601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591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肌理延续与有序增量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58775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整体延续厂区原有肌理，以遗产建筑作为空间轴线核心节点，仅在外围增加建筑容量。新建面积近9万平方米，新旧之间形成有机的生长关系而非简单并置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0292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383280"/>
            <a:ext cx="54864" cy="9601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564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空间层次的清晰性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68503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遗产建筑居中为核，新建建筑外围环绕，形成清晰的空间层次。这种结构使两栋核心建筑在新建体量中不被边缘化，始终占据视觉与空间中心</a:t>
            </a:r>
            <a:endParaRPr lang="en-US" sz="850" dirty="0"/>
          </a:p>
        </p:txBody>
      </p:sp>
      <p:pic>
        <p:nvPicPr>
          <p:cNvPr id="17" name="Image 0" descr="/Users/peilinli/Desktop/Vibecoding/urban-renewal-report/images/loft49_over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7270" y="1188720"/>
            <a:ext cx="2318090" cy="34747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277270" y="4709160"/>
            <a:ext cx="23180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保留建筑居中、新建建筑环绕的空间关系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3.2 空间布局对比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与国内外类似案例的规划结构对比</a:t>
            </a:r>
            <a:endParaRPr lang="en-US" sz="2200" dirty="0"/>
          </a:p>
        </p:txBody>
      </p:sp>
      <p:pic>
        <p:nvPicPr>
          <p:cNvPr id="5" name="Image 0" descr="/Users/peilinli/Desktop/Vibecoding/urban-renewal-report/images/loft49_overview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2633472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526280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"以旧为核、以新围旧"空间布局策略</a:t>
            </a:r>
            <a:endParaRPr lang="en-US" sz="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188720"/>
          <a:ext cx="48463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645920"/>
                <a:gridCol w="128016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案例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空间结构策略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新旧关系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开放度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850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LOFT49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遗产为中轴，新建外围环绕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有机生长，层次清晰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完全开放街区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北京798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厂房自然分布，无强轴线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自发拼贴，关系松散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半开放艺术区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上海M50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原有厂房格局基本不变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最小改动，新建极少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半开放创意园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首钢园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巨型设施为地标，大尺度轴线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大尺度共存，产业化改造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公园+产业园复合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840480" y="3429000"/>
            <a:ext cx="4846320" cy="777240"/>
          </a:xfrm>
          <a:prstGeom prst="rect">
            <a:avLst/>
          </a:prstGeom>
          <a:solidFill>
            <a:srgbClr val="2A24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977640" y="34930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LOFT49的领先之处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3977640" y="3703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"以遗产为轴心"的规划手法并非首创，但实施精细度在国内工业遗产更新项目中属于领先水平——新旧关系清晰、空间层次分明、完全开放融入城市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3.2 核心理念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"创意·创新·文化"四大核心理念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0574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54864" cy="15087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80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产业激活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81051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保留工业遗存空间，植入创意办公、展览展示等新功能，以产业升级驱动区域复兴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0" y="1188720"/>
            <a:ext cx="20574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188720"/>
            <a:ext cx="54864" cy="15087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1280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8036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开放连接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80360" y="181051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打破围墙，取消封闭管理，园区内外空间自然贯通，融入城市步行网络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20574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834640"/>
            <a:ext cx="54864" cy="15087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926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城市新地标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45643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通过新旧建筑对话与标志性空中连廊，打造运河文化带上的建筑新名片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0" y="2834640"/>
            <a:ext cx="20574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0" y="2834640"/>
            <a:ext cx="54864" cy="15087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2880360" y="2926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88036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认同感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80360" y="345643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保留工业记忆与场所精神，让使用者与周边居民建立情感连接与文化认同</a:t>
            </a:r>
            <a:endParaRPr lang="en-US" sz="750" dirty="0"/>
          </a:p>
        </p:txBody>
      </p:sp>
      <p:pic>
        <p:nvPicPr>
          <p:cNvPr id="25" name="Image 0" descr="/Users/peilinli/Desktop/Vibecoding/urban-renewal-report/images/scan_masterpl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88720"/>
            <a:ext cx="3840480" cy="266611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846320" y="390055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招商手册理念展示——四大核心理念与设计团队信息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3.3 容量策略 / 3.4 开放街区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外围增量与核心保护的平衡 · 从封闭厂区到城市公共平台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43000"/>
            <a:ext cx="54864" cy="1691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161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容量策略：定点保护+弹性增量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严格保护区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遗产建筑本体，不参与容积率提升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过渡缓冲区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遗产周边，限制新建高度保护视线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自由开发区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远离遗产的外围区域，可容纳高层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3931920" cy="1691640"/>
          </a:xfrm>
          <a:prstGeom prst="rect">
            <a:avLst/>
          </a:prstGeom>
          <a:solidFill>
            <a:srgbClr val="2A24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161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开放街区：城市缝合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取消围墙设置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园区内外空间自然贯通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三个公共广场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形成停留与交往的公共节点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完整步行网络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路径系统连接各广场</a:t>
            </a:r>
            <a:endParaRPr lang="en-US" sz="800" dirty="0"/>
          </a:p>
        </p:txBody>
      </p:sp>
      <p:pic>
        <p:nvPicPr>
          <p:cNvPr id="12" name="Image 0" descr="/Users/peilinli/Desktop/Vibecoding/urban-renewal-report/images/loft49_sec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502" y="3063240"/>
            <a:ext cx="4328995" cy="1645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407502" y="4736592"/>
            <a:ext cx="43289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园区剖面示意图——保留厂房与新建建筑的高度关系与空间层次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3.4.1 景观体系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立体洄游与灵感花园</a:t>
            </a:r>
            <a:endParaRPr lang="en-US" sz="2200" dirty="0"/>
          </a:p>
        </p:txBody>
      </p:sp>
      <p:pic>
        <p:nvPicPr>
          <p:cNvPr id="5" name="Image 0" descr="/Users/peilinli/Desktop/Vibecoding/urban-renewal-report/images/scan_landscape_kinsh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572000" cy="31657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400193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"城市金缮"生机街区与"立体洄游"灵感花园景观体系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5394960" y="1188720"/>
            <a:ext cx="32918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94960" y="1188720"/>
            <a:ext cx="54864" cy="19202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5577840" y="12618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六大公共空间节点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577840" y="1508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城市广场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675120" y="15087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园区主入口集散空间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577840" y="1755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灵感花园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675120" y="17556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设计大师演讲·沙龙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577840" y="20025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天空连廊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675120" y="20025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串联6#和10#楼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577840" y="22494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漫想广场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675120" y="22494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日常休憩交往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577840" y="24963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云顶花园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675120" y="24963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屋顶花园·露天电影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577840" y="2743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静水叠台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675120" y="27432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水景冥想空间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394960" y="3246120"/>
            <a:ext cx="3291840" cy="1234440"/>
          </a:xfrm>
          <a:prstGeom prst="rect">
            <a:avLst/>
          </a:prstGeom>
          <a:solidFill>
            <a:srgbClr val="2A24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577840" y="33192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四大景观场景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577840" y="35478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艺术花园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040880" y="35478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商业活动·艺术展览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577840" y="37673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灵感花园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040880" y="376732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设计大师演讲·沙龙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577840" y="39867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天空之境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7040880" y="398678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品牌发布会·集市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577840" y="42062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屋顶花园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040880" y="420624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社区活动·露天观影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3.5 高度控制 / 3.7 控规调整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高度策略与控规转型</a:t>
            </a:r>
            <a:endParaRPr lang="en-US" sz="2200" dirty="0"/>
          </a:p>
        </p:txBody>
      </p:sp>
      <p:pic>
        <p:nvPicPr>
          <p:cNvPr id="5" name="Image 0" descr="/Users/peilinli/Desktop/Vibecoding/urban-renewal-report/images/pdf_landuse_befo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851367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977640"/>
            <a:ext cx="38513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控规用地规划图：黄色R21居住用地→粉色M1创新型产业用地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548640" y="3977640"/>
            <a:ext cx="3931920" cy="822960"/>
          </a:xfrm>
          <a:prstGeom prst="rect">
            <a:avLst/>
          </a:prstGeom>
          <a:solidFill>
            <a:srgbClr val="2A24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40416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高度控制策略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" y="4251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"高层靠边、多层环中"——两座高层塔楼退至场地南侧角落，其余三向布置错落多层，确保遗产建筑始终占据视觉中心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188720"/>
          <a:ext cx="3931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55448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策略维度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核心手法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预期成效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遗产评估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四维度评分体系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科学客观的拆留依据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空间结构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遗产为中轴，新建环绕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新旧关系清晰，层次分明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容量分配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定点保护+弹性增量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平衡保护与开发效益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街区开放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取消围墙，公共广场网络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园区与城市无缝融合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高度控制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高层靠边，多层环中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避免新建对遗产的压制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754880" y="397764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54880" y="3977640"/>
            <a:ext cx="54864" cy="8229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9"/>
          <p:cNvSpPr/>
          <p:nvPr/>
        </p:nvSpPr>
        <p:spPr>
          <a:xfrm>
            <a:off x="4892040" y="4041648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控规调整：R21→M1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892040" y="42519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原控规R21居住用地为主导，调整后大面积转为M1创新型产业用地，体现从"居住主导"向"产业创新主导"的规划转型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ilinli/Desktop/Vibecoding/urban-renewal-report/images/loft49_b10_aft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097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建筑改造策略深度解析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RENOVATION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35204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10号楼结构保留与空间重组 · 6号楼设备遗存与材料对话 · 新建建筑风车体量 · 材料体系与空间叙事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4.1 10号楼改造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结构保留与空间重组——外观对比</a:t>
            </a:r>
            <a:endParaRPr lang="en-US" sz="2000" dirty="0"/>
          </a:p>
        </p:txBody>
      </p:sp>
      <p:pic>
        <p:nvPicPr>
          <p:cNvPr id="5" name="Image 0" descr="/Users/peilinli/Desktop/Vibecoding/urban-renewal-report/images/loft49_b10_befo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931920" cy="181441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188720"/>
            <a:ext cx="914400" cy="256032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2252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改造前</a:t>
            </a:r>
            <a:endParaRPr lang="en-US" sz="900" dirty="0"/>
          </a:p>
        </p:txBody>
      </p:sp>
      <p:pic>
        <p:nvPicPr>
          <p:cNvPr id="8" name="Image 1" descr="/Users/peilinli/Desktop/Vibecoding/urban-renewal-report/images/loft49_b10_aft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3048000" cy="2286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663440" y="1188720"/>
            <a:ext cx="914400" cy="25603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6"/>
          <p:cNvSpPr/>
          <p:nvPr/>
        </p:nvSpPr>
        <p:spPr>
          <a:xfrm>
            <a:off x="4709160" y="12252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改造后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48640" y="361188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8640" y="3611880"/>
            <a:ext cx="54864" cy="10058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9"/>
          <p:cNvSpPr/>
          <p:nvPr/>
        </p:nvSpPr>
        <p:spPr>
          <a:xfrm>
            <a:off x="685800" y="3703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结构层面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85800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保留钢排架主结构，加固腐蚀构件，工字钢梁·吊车轨道·设备基础原位保留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291840" y="361188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91840" y="3611880"/>
            <a:ext cx="54864" cy="10058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3"/>
          <p:cNvSpPr/>
          <p:nvPr/>
        </p:nvSpPr>
        <p:spPr>
          <a:xfrm>
            <a:off x="3429000" y="3703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围护层面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429000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拆除后期加建墙体，恢复红砖墙面，屋顶采光天窗替换采光带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035040" y="361188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35040" y="3611880"/>
            <a:ext cx="54864" cy="10058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7"/>
          <p:cNvSpPr/>
          <p:nvPr/>
        </p:nvSpPr>
        <p:spPr>
          <a:xfrm>
            <a:off x="6172200" y="3703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功能层面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172200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12m层高空间内插入中夹层，单层大空间→上下两层复合空间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4.1 10号楼改造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内部空间改造——从生产车间到复合空间</a:t>
            </a:r>
            <a:endParaRPr lang="en-US" sz="2000" dirty="0"/>
          </a:p>
        </p:txBody>
      </p:sp>
      <p:pic>
        <p:nvPicPr>
          <p:cNvPr id="5" name="Image 0" descr="/Users/peilinli/Desktop/Vibecoding/urban-renewal-report/images/loft49_b10_int_befo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5129" y="1188720"/>
            <a:ext cx="4153741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495129" y="1188720"/>
            <a:ext cx="914400" cy="228600"/>
          </a:xfrm>
          <a:prstGeom prst="rect">
            <a:avLst/>
          </a:prstGeom>
          <a:solidFill>
            <a:srgbClr val="1A1512"/>
          </a:solidFill>
          <a:ln/>
        </p:spPr>
      </p:sp>
      <p:sp>
        <p:nvSpPr>
          <p:cNvPr id="7" name="Text 4"/>
          <p:cNvSpPr/>
          <p:nvPr/>
        </p:nvSpPr>
        <p:spPr>
          <a:xfrm>
            <a:off x="2540849" y="12161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改造前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495129" y="2587752"/>
            <a:ext cx="41537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封闭的生产车间——混凝土柱、钢梁与破损天花板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45720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926080"/>
            <a:ext cx="54864" cy="1691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0175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空间转型策略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2461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封闭生产车间 → 开放展览+办公复合空间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改造前：12m层高大跨度单层空间，封闭的生产流线，混凝土柱与钢梁结构外露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改造后：插入中夹层形成上下两层复合空间，轻质结构与原有重型结构产生新旧对比，既增加使用面积又保留通高空间体验</a:t>
            </a:r>
            <a:endParaRPr lang="en-US" sz="900" dirty="0"/>
          </a:p>
        </p:txBody>
      </p:sp>
      <p:pic>
        <p:nvPicPr>
          <p:cNvPr id="13" name="Image 1" descr="/Users/peilinli/Desktop/Vibecoding/urban-renewal-report/images/loft49_b10_int_aft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884" y="2926080"/>
            <a:ext cx="1672476" cy="16916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922884" y="2926080"/>
            <a:ext cx="777240" cy="228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1"/>
          <p:cNvSpPr/>
          <p:nvPr/>
        </p:nvSpPr>
        <p:spPr>
          <a:xfrm>
            <a:off x="6950316" y="29535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改造后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4.1 技术指标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改造策略技术指标与夜景效果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4572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137160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技术维度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原有状态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改造后状态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设计意图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结构体系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钢排架，单层大跨度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保留原结构，插入中夹层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保留骨架，增加面积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屋面系统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采光带屋顶，红砖围护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采光天窗，保留轮廓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改善采光，保留记忆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内部空间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封闭生产车间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开放展览+办公复合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生产流线→体验流线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历史构件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吊车轨道、设备基础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原位保留，纳入展示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工业历史的物质见证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246120"/>
            <a:ext cx="4572000" cy="685800"/>
          </a:xfrm>
          <a:prstGeom prst="rect">
            <a:avLst/>
          </a:prstGeom>
          <a:solidFill>
            <a:srgbClr val="2A24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331012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设计哲学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5800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"保留骨架、插入功能"——原有钢排架结构、工字钢梁、吊车轨道被原位保留作为工业历史物质见证，中夹层轻质结构与重型结构产生新旧对比</a:t>
            </a:r>
            <a:endParaRPr lang="en-US" sz="750" dirty="0"/>
          </a:p>
        </p:txBody>
      </p:sp>
      <p:pic>
        <p:nvPicPr>
          <p:cNvPr id="9" name="Image 0" descr="/Users/peilinli/Desktop/Vibecoding/urban-renewal-report/images/loft49_render_vs_re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188720"/>
            <a:ext cx="3474720" cy="25734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38079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10号楼改造后夜景：玻璃幕墙透出内部保留的钢屋架结构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4.2 6号楼改造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设备遗存与材料对话</a:t>
            </a:r>
            <a:endParaRPr lang="en-US" sz="2200" dirty="0"/>
          </a:p>
        </p:txBody>
      </p:sp>
      <p:pic>
        <p:nvPicPr>
          <p:cNvPr id="5" name="Image 0" descr="/Users/peilinli/Desktop/Vibecoding/urban-renewal-report/images/loft49_equipm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4199" y="1188720"/>
            <a:ext cx="3875603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34199" y="3044952"/>
            <a:ext cx="38756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6号楼改造前室内空间原貌——老设备、楼梯、窗、管道阀门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3246120"/>
            <a:ext cx="54864" cy="13258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337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原位保留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3566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重点设备原地保留，作为空间中的雕塑和装置艺术。管道系统、阀门、控制柜等"工业化石"具有不可复制的历史价值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91840" y="324612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3246120"/>
            <a:ext cx="54864" cy="13258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0"/>
          <p:cNvSpPr/>
          <p:nvPr/>
        </p:nvSpPr>
        <p:spPr>
          <a:xfrm>
            <a:off x="3429000" y="3337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材料并置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429000" y="3566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耐候钢板、釉面陶板等新材料与原有混凝土墙面、铁艺设备并置——粗糙与精细、冷与暖、沉稳与活泼的视觉张力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324612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35040" y="3246120"/>
            <a:ext cx="54864" cy="13258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3337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功能绕合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172200" y="3566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新功能布局围绕保留设备组织，使用户在使用空间时必然与工业遗存产生互动——设备成为空间的叙事节点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4.2 6号楼改造后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改造后实景——设备对话与功能绕合</a:t>
            </a:r>
            <a:endParaRPr lang="en-US" sz="2000" dirty="0"/>
          </a:p>
        </p:txBody>
      </p:sp>
      <p:pic>
        <p:nvPicPr>
          <p:cNvPr id="5" name="Image 0" descr="/Users/peilinli/Desktop/Vibecoding/urban-renewal-report/images/loft49_b6_af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653372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526280"/>
            <a:ext cx="36533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6号楼区域改造后实景——建筑外观与庭院连廊空间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4846320" y="1188720"/>
            <a:ext cx="3840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46320" y="1188720"/>
            <a:ext cx="54864" cy="12344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0" y="12618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改造策略差异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0" y="149047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10号楼改造重点在"空间重组"，6号楼改造重点在于"设备对话"——如何让保留的生产设备与新的功能空间产生有意义的关系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846320" y="2560320"/>
            <a:ext cx="3840480" cy="1234440"/>
          </a:xfrm>
          <a:prstGeom prst="rect">
            <a:avLst/>
          </a:prstGeom>
          <a:solidFill>
            <a:srgbClr val="2A24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29200" y="2633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改造成效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0" y="286207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建筑外观焕新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白色混凝土立面→耐候钢+陶板复合材料体系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庭院与连廊空间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新增空中连廊连接6#与10#，形成立体公共空间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设备遗存活化</a:t>
            </a:r>
            <a:endParaRPr lang="en-US" sz="8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工业设备成为空间叙事节点与公共艺术装置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846320" y="393192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3931920"/>
            <a:ext cx="54864" cy="7315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39959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"工业化石"的价值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29200" y="41879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管道、阀门、控制柜等设备具有不可复制的历史价值和场所氛围营造能力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4.3 新建建筑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风车体量与材料呼应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54864" cy="1600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618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风车式体量组织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490472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中央核心体为轴心，三个翼展体量向不同方向展开，形成类似飞轮的平面形态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优势：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每翼展面向保留建筑开口，形成视觉对话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翼展间退让产生半封闭庭院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931920" cy="1737360"/>
          </a:xfrm>
          <a:prstGeom prst="rect">
            <a:avLst/>
          </a:prstGeom>
          <a:solidFill>
            <a:srgbClr val="2A24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9992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材料策略与遗产呼应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227832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釉面陶板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暖色调与红砖墙面色彩呼应，精细质感与红砖粗糙形成对比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耐候钢板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沉稳色调与铁艺设备产生材质关联，随时间变化获得"年代感"</a:t>
            </a:r>
            <a:endParaRPr lang="en-US" sz="800" dirty="0"/>
          </a:p>
        </p:txBody>
      </p:sp>
      <p:pic>
        <p:nvPicPr>
          <p:cNvPr id="12" name="Image 0" descr="/Users/peilinli/Desktop/Vibecoding/urban-renewal-report/images/loft49_newbui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88720"/>
            <a:ext cx="3840480" cy="2876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846320" y="4110799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新建办公建筑——风车式体量，釉面陶板与耐候钢板外立面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4.4 材料体系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新旧对话的技术逻辑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4572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137160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材料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位置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特性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与遗产的对话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红砖墙面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保留厂房外墙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粗糙·暖红色·时代感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场所记忆的物质载体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采光天窗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保留厂房屋顶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透光·轻质·现代感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功能升级保留轮廓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耐候钢板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新建建筑外立面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沉稳·变色·工业感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与铁艺设备材质关联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釉面陶板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新建建筑外立面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精细·暖色调·现代感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与红砖色彩呼应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钢排架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保留厂房内部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粗犷·工业结构感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工业骨架原真保留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429000"/>
            <a:ext cx="4572000" cy="868680"/>
          </a:xfrm>
          <a:prstGeom prst="rect">
            <a:avLst/>
          </a:prstGeom>
          <a:solidFill>
            <a:srgbClr val="2A24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349300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材料体系的组织逻辑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5800" y="37033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不是简单的材料堆叠，而是基于每种材料的物理特性和视觉语言进行的有逻辑的组织——新旧材料在色彩、质感、时间维度上形成多层次的对话关系</a:t>
            </a:r>
            <a:endParaRPr lang="en-US" sz="750" dirty="0"/>
          </a:p>
        </p:txBody>
      </p:sp>
      <p:pic>
        <p:nvPicPr>
          <p:cNvPr id="9" name="Image 0" descr="/Users/peilinli/Desktop/Vibecoding/urban-renewal-report/images/loft49_gallery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5060" y="1188720"/>
            <a:ext cx="2400300" cy="3200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95060" y="4434840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园区实景：耐候钢板·钢结构·玻璃幕墙·红色金属百叶——材料对话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4.5 空间叙事 / 4.6 策略总结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从生产流线到体验流线 · 改造策略总结</a:t>
            </a:r>
            <a:endParaRPr lang="en-US" sz="1800" dirty="0"/>
          </a:p>
        </p:txBody>
      </p:sp>
      <p:pic>
        <p:nvPicPr>
          <p:cNvPr id="5" name="Image 0" descr="/Users/peilinli/Desktop/Vibecoding/urban-renewal-report/images/loft49_gallery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840480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7947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红色金属百叶立面与耐候钢标识墙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548640" y="3840480"/>
            <a:ext cx="3931920" cy="960120"/>
          </a:xfrm>
          <a:prstGeom prst="rect">
            <a:avLst/>
          </a:prstGeom>
          <a:solidFill>
            <a:srgbClr val="2A24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39044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空间叙事转型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" y="4114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生产流线（线性）→ 体验流线（多线交叉）——保留的轨道、设备、结构构件成为新体验流线上的"叙事节点"，将工业记忆缝入当代生活</a:t>
            </a:r>
            <a:endParaRPr lang="en-US" sz="7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188720"/>
          <a:ext cx="3931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建筑对象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改造策略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核心手法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10号楼（保留）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结构保留+空间重组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保留骨架·插入中夹层·采光天窗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6号楼（保留）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设备遗存+材料对话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设备原位保留·新材料并置·功能绕合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新建办公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风车体量+材料呼应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中央核心+三翼·陶板+耐候钢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空中联系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栈桥+屋顶平台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11.85m标高栈道·屋顶花园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754880" y="38404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54880" y="3840480"/>
            <a:ext cx="54864" cy="9601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9"/>
          <p:cNvSpPr/>
          <p:nvPr/>
        </p:nvSpPr>
        <p:spPr>
          <a:xfrm>
            <a:off x="4892040" y="3904488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"城市金缮"在建筑层面的体现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892040" y="411480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不是抹去生产流线的痕迹，而是用新的体验流线将其重新缝合——让人们在使用中自然感受到这里曾是一座工厂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LOFT49产业遗存更新深度解析 — 第三/四章</dc:title>
  <dc:subject>规划策略与建筑改造策略深度解析</dc:subject>
  <dc:creator>Urban Renewal Analysis</dc:creator>
  <cp:lastModifiedBy>Urban Renewal Analysis</cp:lastModifiedBy>
  <cp:revision>1</cp:revision>
  <dcterms:created xsi:type="dcterms:W3CDTF">2026-07-07T08:14:09Z</dcterms:created>
  <dcterms:modified xsi:type="dcterms:W3CDTF">2026-07-07T08:14:09Z</dcterms:modified>
</cp:coreProperties>
</file>